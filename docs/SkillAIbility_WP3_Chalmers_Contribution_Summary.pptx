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14"/>
  </p:sldIdLst>
  <p:sldSz cx="12192000" cy="6858000"/>
  <p:notesSz cx="6858000" cy="9144000"/>
  <p:defaultTextStyle>
    <a:defPPr rtl="0"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B68CB0E-A9EC-87E6-A4BB-62CFFCD74A79}" name="Valentin Popescu" initials="VP" userId="S::valentin.popescu@martel-innovate.com::7324448c-b78d-4655-a593-749ee261be2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BE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42AC94-4C5A-9AB4-4FFF-524315335DB3}" v="2" dt="2026-07-14T08:07:21.439"/>
  </p1510:revLst>
</p1510:revInfo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–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8579" autoAdjust="0"/>
    <p:restoredTop sz="94640" autoAdjust="0"/>
  </p:normalViewPr>
  <p:slideViewPr>
    <p:cSldViewPr snapToGrid="0">
      <p:cViewPr>
        <p:scale>
          <a:sx n="61" d="100"/>
          <a:sy n="61" d="100"/>
        </p:scale>
        <p:origin x="840" y="8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3570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4" Type="http://schemas.openxmlformats.org/officeDocument/2006/relationships/slide" Target="slides/slide1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6/11/relationships/changesInfo" Target="changesInfos/changesInfo1.xml"/><Relationship Id="rId25" Type="http://schemas.microsoft.com/office/2015/10/relationships/revisionInfo" Target="revisionInfo.xml"/><Relationship Id="rId26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laria Bucci" userId="S::10989405@polimi.it::2051a39b-7f22-4b37-b408-8bd3ee358a7c" providerId="AD" clId="Web-{D142AC94-4C5A-9AB4-4FFF-524315335DB3}"/>
    <pc:docChg chg="addSld delSld">
      <pc:chgData name="Ilaria Bucci" userId="S::10989405@polimi.it::2051a39b-7f22-4b37-b408-8bd3ee358a7c" providerId="AD" clId="Web-{D142AC94-4C5A-9AB4-4FFF-524315335DB3}" dt="2026-07-14T08:07:21.439" v="1"/>
      <pc:docMkLst>
        <pc:docMk/>
      </pc:docMkLst>
      <pc:sldChg chg="add del replId">
        <pc:chgData name="Ilaria Bucci" userId="S::10989405@polimi.it::2051a39b-7f22-4b37-b408-8bd3ee358a7c" providerId="AD" clId="Web-{D142AC94-4C5A-9AB4-4FFF-524315335DB3}" dt="2026-07-14T08:07:21.439" v="1"/>
        <pc:sldMkLst>
          <pc:docMk/>
          <pc:sldMk cId="4266076217" sldId="311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C026C9-4C52-4B60-A858-A50E4BE56D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160113-35DB-4BB4-9269-631D6FEB5E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1B07DD3-8E0C-4A50-B5FE-ABD362AD454B}" type="datetime1">
              <a:rPr lang="en-GB" smtClean="0"/>
              <a:t>14/07/2026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40E5BB-A291-4B94-8433-B9D3F16854C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57D678-038E-42A6-961E-EAB034DB47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DE7DFA-63CC-4ED7-B30E-ACF88B4B893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009129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CED090A-610C-4D83-921E-93394EF804D0}" type="datetime1">
              <a:rPr lang="en-GB" noProof="0" smtClean="0"/>
              <a:t>14/07/2026</a:t>
            </a:fld>
            <a:endParaRPr lang="en-GB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98C5307-140F-447F-BCBA-BB92E3A2906B}" type="slidenum">
              <a:rPr lang="en-GB" noProof="0" smtClean="0"/>
              <a:t>‹N›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3315437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emf"/><Relationship Id="rId6" Type="http://schemas.openxmlformats.org/officeDocument/2006/relationships/image" Target="../media/image6.svg"/><Relationship Id="rId7" Type="http://schemas.openxmlformats.org/officeDocument/2006/relationships/image" Target="../media/image7.svg"/><Relationship Id="rId8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1st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C4A2449-2017-6A8D-2D9D-48AD3D6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09016" y="0"/>
            <a:ext cx="4082983" cy="6858000"/>
          </a:xfrm>
          <a:prstGeom prst="rect">
            <a:avLst/>
          </a:prstGeom>
          <a:gradFill flip="none" rotWithShape="1">
            <a:gsLst>
              <a:gs pos="51000">
                <a:srgbClr val="214EAB"/>
              </a:gs>
              <a:gs pos="0">
                <a:schemeClr val="accent1"/>
              </a:gs>
              <a:gs pos="33000">
                <a:srgbClr val="1879C6"/>
              </a:gs>
              <a:gs pos="79000">
                <a:schemeClr val="tx2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CAB4C3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44A184-010C-483F-8B5A-3D1E7E6EF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" y="0"/>
            <a:ext cx="81153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rgbClr val="CAB4C3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582A2E2-E6DD-4321-B03A-F6C071C1B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044" y="2206596"/>
            <a:ext cx="6815446" cy="1464542"/>
          </a:xfrm>
        </p:spPr>
        <p:txBody>
          <a:bodyPr rtlCol="0" anchor="t">
            <a:normAutofit/>
          </a:bodyPr>
          <a:lstStyle>
            <a:lvl1pPr>
              <a:defRPr sz="4800" spc="-2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 dirty="0"/>
              <a:t>Click to edit Master title style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38823550-6B12-4BFD-9C91-668B623E353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09017" y="0"/>
            <a:ext cx="4082983" cy="6858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 dirty="0"/>
              <a:t>Click to add photo</a:t>
            </a:r>
          </a:p>
        </p:txBody>
      </p: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9E9C6A08-7CCF-F23D-34C4-637EC0D44C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3659" y="5884014"/>
            <a:ext cx="2603264" cy="658752"/>
          </a:xfrm>
          <a:prstGeom prst="rect">
            <a:avLst/>
          </a:prstGeom>
        </p:spPr>
      </p:pic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D3A9F8E-98E0-419C-6FDF-21FAB8C57F4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44" y="6104894"/>
            <a:ext cx="1970418" cy="4378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E4F63D-53DE-B1D4-2EEA-85FF5ADA414B}"/>
              </a:ext>
            </a:extLst>
          </p:cNvPr>
          <p:cNvSpPr txBox="1"/>
          <p:nvPr userDrawn="1"/>
        </p:nvSpPr>
        <p:spPr>
          <a:xfrm>
            <a:off x="6311120" y="6142656"/>
            <a:ext cx="1128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b="0" spc="0" dirty="0">
                <a:solidFill>
                  <a:schemeClr val="bg1"/>
                </a:solidFill>
                <a:latin typeface="+mn-lt"/>
                <a:ea typeface="Source Code Pro" panose="020B0509030403020204" pitchFamily="49" charset="0"/>
                <a:cs typeface="Consolas" panose="020B0609020204030204" pitchFamily="49" charset="0"/>
              </a:rPr>
              <a:t>Grant Agreement </a:t>
            </a:r>
          </a:p>
          <a:p>
            <a:pPr algn="r"/>
            <a:r>
              <a:rPr lang="en-US" sz="1000" b="0" spc="0" dirty="0">
                <a:solidFill>
                  <a:schemeClr val="bg1"/>
                </a:solidFill>
                <a:latin typeface="+mn-lt"/>
                <a:ea typeface="Source Code Pro" panose="020B0509030403020204" pitchFamily="49" charset="0"/>
                <a:cs typeface="Consolas" panose="020B0609020204030204" pitchFamily="49" charset="0"/>
              </a:rPr>
              <a:t>No </a:t>
            </a:r>
            <a:r>
              <a:rPr lang="en-US" sz="1000" b="0" i="0" spc="0" dirty="0">
                <a:solidFill>
                  <a:schemeClr val="bg1"/>
                </a:solidFill>
                <a:latin typeface="+mn-lt"/>
                <a:ea typeface="Source Code Pro" panose="020B0509030403020204" pitchFamily="49" charset="0"/>
                <a:cs typeface="Consolas" panose="020B0609020204030204" pitchFamily="49" charset="0"/>
              </a:rPr>
              <a:t>101177783</a:t>
            </a:r>
            <a:endParaRPr lang="en-ID" sz="1000" b="0" spc="0" dirty="0">
              <a:solidFill>
                <a:schemeClr val="bg1"/>
              </a:solidFill>
              <a:latin typeface="+mn-lt"/>
              <a:ea typeface="Source Code Pro" panose="020B0509030403020204" pitchFamily="49" charset="0"/>
              <a:cs typeface="Consolas" panose="020B0609020204030204" pitchFamily="49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577C22C-83A1-7F95-3C3F-E9FBFD28D8E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49044" y="315234"/>
            <a:ext cx="1674432" cy="579862"/>
          </a:xfrm>
          <a:prstGeom prst="rect">
            <a:avLst/>
          </a:prstGeom>
        </p:spPr>
      </p:pic>
      <p:sp>
        <p:nvSpPr>
          <p:cNvPr id="2" name="Rectangle: Rounded Corners 17">
            <a:extLst>
              <a:ext uri="{FF2B5EF4-FFF2-40B4-BE49-F238E27FC236}">
                <a16:creationId xmlns:a16="http://schemas.microsoft.com/office/drawing/2014/main" id="{746A1399-35CE-B365-799A-182B63F0A746}"/>
              </a:ext>
            </a:extLst>
          </p:cNvPr>
          <p:cNvSpPr/>
          <p:nvPr userDrawn="1"/>
        </p:nvSpPr>
        <p:spPr>
          <a:xfrm>
            <a:off x="624749" y="4343926"/>
            <a:ext cx="6815137" cy="1111250"/>
          </a:xfrm>
          <a:prstGeom prst="roundRect">
            <a:avLst>
              <a:gd name="adj" fmla="val 4982"/>
            </a:avLst>
          </a:prstGeom>
          <a:noFill/>
          <a:ln w="12700" cap="rnd">
            <a:solidFill>
              <a:schemeClr val="bg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pPr>
              <a:lnSpc>
                <a:spcPct val="150000"/>
              </a:lnSpc>
            </a:pPr>
            <a:endParaRPr lang="en-US" sz="1400" b="1" dirty="0">
              <a:solidFill>
                <a:schemeClr val="bg1"/>
              </a:solidFill>
              <a:ea typeface="Source Code Pro" panose="020B050903040302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260127C-3E5F-7691-5752-668D349A13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9044" y="4415256"/>
            <a:ext cx="3302067" cy="437873"/>
          </a:xfrm>
        </p:spPr>
        <p:txBody>
          <a:bodyPr anchor="ctr"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endParaRPr lang="en-CH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A5CD74B5-9307-54F9-20E6-3369A186123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37973" y="4415256"/>
            <a:ext cx="3302068" cy="437873"/>
          </a:xfrm>
        </p:spPr>
        <p:txBody>
          <a:bodyPr anchor="ctr"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endParaRPr lang="en-CH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F3A3DA83-14C4-D736-7710-890E1DF227E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9044" y="4934545"/>
            <a:ext cx="3302067" cy="437873"/>
          </a:xfrm>
        </p:spPr>
        <p:txBody>
          <a:bodyPr anchor="ctr"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endParaRPr lang="en-CH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A4BAA726-5AB5-4168-9430-CA4D28B4AA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137973" y="4934545"/>
            <a:ext cx="3302068" cy="437873"/>
          </a:xfrm>
        </p:spPr>
        <p:txBody>
          <a:bodyPr anchor="ctr"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706224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Agenda_2nd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ACCBA8-1905-3646-BDBD-B9A3B5A84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-19050" y="-2"/>
            <a:ext cx="4095750" cy="6594477"/>
          </a:xfrm>
          <a:prstGeom prst="rect">
            <a:avLst/>
          </a:prstGeom>
          <a:gradFill>
            <a:gsLst>
              <a:gs pos="72000">
                <a:srgbClr val="177BC7"/>
              </a:gs>
              <a:gs pos="35000">
                <a:schemeClr val="tx1">
                  <a:lumMod val="75000"/>
                  <a:lumOff val="25000"/>
                </a:schemeClr>
              </a:gs>
              <a:gs pos="93000">
                <a:srgbClr val="09BEF1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B1A8891C-A2D4-4238-ABCE-62AB3A9121A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-1"/>
            <a:ext cx="4076701" cy="6594476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 dirty="0"/>
              <a:t>Click to add photo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2AAFDE-CB45-46CA-8961-8133FCA5F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076700" y="0"/>
            <a:ext cx="8115300" cy="373202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209C30D-AB58-482B-B553-F71367094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4100" y="895096"/>
            <a:ext cx="6599238" cy="2533905"/>
          </a:xfrm>
        </p:spPr>
        <p:txBody>
          <a:bodyPr rtlCol="0" anchor="b"/>
          <a:lstStyle>
            <a:lvl1pPr>
              <a:defRPr spc="-2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 dirty="0">
                <a:solidFill>
                  <a:srgbClr val="FFFFFF"/>
                </a:solidFill>
              </a:rPr>
              <a:t>Click to edit Master title style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DFCFAED4-0A56-424D-BF74-4051B0BDA9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64100" y="3841750"/>
            <a:ext cx="6599238" cy="2296083"/>
          </a:xfrm>
        </p:spPr>
        <p:txBody>
          <a:bodyPr rtlCol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</a:lstStyle>
          <a:p>
            <a:pPr lvl="0" rtl="0"/>
            <a:r>
              <a:rPr lang="en-GB" noProof="0" dirty="0"/>
              <a:t>Click to add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80AE63-E486-0016-CFEC-7B52E5CE07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86931" y="307375"/>
            <a:ext cx="419537" cy="53571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50F7FA-9F73-1FBD-E9B1-F8F3845347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CH"/>
              <a:t>12.03.25</a:t>
            </a:r>
            <a:endParaRPr lang="en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D219E-9C4A-24AE-DA36-1D9C2A7D86A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it-IT">
                <a:ea typeface="Source Code Pro" panose="020B0509030403020204" pitchFamily="49" charset="0"/>
                <a:cs typeface="Consolas" panose="020B0609020204030204" pitchFamily="49" charset="0"/>
                <a:sym typeface="Arial"/>
              </a:rPr>
              <a:t>© Copyright SkillAIbility 2024-2027</a:t>
            </a:r>
            <a:endParaRPr lang="it-IT" dirty="0">
              <a:ea typeface="Source Code Pro" panose="020B050903040302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696C6-8005-4C18-9CE4-A64FC9C120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5F2F5E0-43A3-F04E-B91C-4A3B6806AA66}" type="slidenum">
              <a:rPr lang="en-CH" smtClean="0"/>
              <a:pPr/>
              <a:t>‹N›</a:t>
            </a:fld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643672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FCA8135-FEFE-2118-4B51-17D230EE686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99410" y="1695450"/>
            <a:ext cx="10599863" cy="43307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D9ACF1A-BF50-47C5-11EB-FD6DEC7D93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CH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07B9C6-A249-78CA-4AF3-25B8FE804FA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de-CH"/>
              <a:t>12.03.25</a:t>
            </a:r>
            <a:endParaRPr lang="en-CH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08E7EF-7228-AEBB-F8A6-6E2232EF8CB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it-IT">
                <a:ea typeface="Source Code Pro" panose="020B0509030403020204" pitchFamily="49" charset="0"/>
                <a:cs typeface="Consolas" panose="020B0609020204030204" pitchFamily="49" charset="0"/>
                <a:sym typeface="Arial"/>
              </a:rPr>
              <a:t>© Copyright SkillAIbility 2024-2027</a:t>
            </a:r>
            <a:endParaRPr lang="it-IT" dirty="0">
              <a:ea typeface="Source Code Pro" panose="020B050903040302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41A18A-3D46-E5C2-1949-06423721E90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5F2F5E0-43A3-F04E-B91C-4A3B6806AA66}" type="slidenum">
              <a:rPr lang="en-CH" smtClean="0"/>
              <a:pPr/>
              <a:t>‹N›</a:t>
            </a:fld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799930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_text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889C723-553D-F7C6-EFC4-63A607CE29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99410" y="0"/>
            <a:ext cx="10301990" cy="1150467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484230F0-1F95-BC39-CFA9-F2F5C11E86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9409" y="1454672"/>
            <a:ext cx="10476967" cy="5976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n-GB" noProof="0" dirty="0"/>
              <a:t>Click to add subtitle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1CB76CB-933C-4912-4DA5-20F69FDCB83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9409" y="2052276"/>
            <a:ext cx="10476967" cy="4101813"/>
          </a:xfrm>
        </p:spPr>
        <p:txBody>
          <a:bodyPr rtlCol="0">
            <a:normAutofit/>
          </a:bodyPr>
          <a:lstStyle>
            <a:lvl1pPr marL="0" indent="0">
              <a:buNone/>
              <a:defRPr sz="2000"/>
            </a:lvl1pPr>
          </a:lstStyle>
          <a:p>
            <a:pPr lvl="0" rtl="0"/>
            <a:r>
              <a:rPr lang="en-GB" noProof="0" dirty="0"/>
              <a:t>Click to add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61A013-90C4-43D0-C3BB-0DAD87E315F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de-CH"/>
              <a:t>12.03.25</a:t>
            </a:r>
            <a:endParaRPr lang="en-CH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8D1581-4F36-7BC2-A83D-EDC58BC962D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it-IT">
                <a:ea typeface="Source Code Pro" panose="020B0509030403020204" pitchFamily="49" charset="0"/>
                <a:cs typeface="Consolas" panose="020B0609020204030204" pitchFamily="49" charset="0"/>
                <a:sym typeface="Arial"/>
              </a:rPr>
              <a:t>© Copyright SkillAIbility 2024-2027</a:t>
            </a:r>
            <a:endParaRPr lang="it-IT" dirty="0">
              <a:ea typeface="Source Code Pro" panose="020B050903040302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C80D9-5F55-2449-4F5F-95D8617F43C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5F2F5E0-43A3-F04E-B91C-4A3B6806AA66}" type="slidenum">
              <a:rPr lang="en-CH" smtClean="0"/>
              <a:pPr/>
              <a:t>‹N›</a:t>
            </a:fld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4190906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ffee_break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9C8F438-3E6B-2F9C-03D9-B86145D37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9050" y="-2"/>
            <a:ext cx="12211050" cy="6858002"/>
          </a:xfrm>
          <a:prstGeom prst="rect">
            <a:avLst/>
          </a:prstGeom>
          <a:gradFill>
            <a:gsLst>
              <a:gs pos="72000">
                <a:srgbClr val="177BC7"/>
              </a:gs>
              <a:gs pos="35000">
                <a:schemeClr val="tx1">
                  <a:lumMod val="75000"/>
                  <a:lumOff val="25000"/>
                </a:schemeClr>
              </a:gs>
              <a:gs pos="93000">
                <a:srgbClr val="09BEF1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6" name="Picture 5" descr="A blue and white wavy lines&#10;&#10;Description automatically generated">
            <a:extLst>
              <a:ext uri="{FF2B5EF4-FFF2-40B4-BE49-F238E27FC236}">
                <a16:creationId xmlns:a16="http://schemas.microsoft.com/office/drawing/2014/main" id="{EE60AC8E-0A5F-DF7F-F887-41649EF2B40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 rot="10800000">
            <a:off x="-19055" y="0"/>
            <a:ext cx="12211051" cy="686593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228284B-979A-1CA9-1007-B95F7A329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241962" y="0"/>
            <a:ext cx="8950038" cy="53755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81B040C-8943-4433-BFE9-AFB1F7C9ED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/>
          </p:nvPr>
        </p:nvSpPr>
        <p:spPr>
          <a:xfrm>
            <a:off x="3241963" y="-2"/>
            <a:ext cx="8950036" cy="4100947"/>
          </a:xfrm>
          <a:noFill/>
        </p:spPr>
        <p:txBody>
          <a:bodyPr rIns="731520" rtlCol="0" anchor="b">
            <a:normAutofit/>
          </a:bodyPr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pPr algn="r" rtl="0"/>
            <a:r>
              <a:rPr lang="en-GB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741A6711-44B3-4723-90E5-802B2DBD86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>
          <a:xfrm>
            <a:off x="3241963" y="4089656"/>
            <a:ext cx="8950035" cy="1285908"/>
          </a:xfrm>
          <a:noFill/>
        </p:spPr>
        <p:txBody>
          <a:bodyPr tIns="36000" rIns="731520" rtlCol="0" anchor="t">
            <a:normAutofit/>
          </a:bodyPr>
          <a:lstStyle>
            <a:lvl1pPr marL="0" indent="0" algn="r">
              <a:buNone/>
              <a:defRPr sz="2800" b="1" baseline="0">
                <a:solidFill>
                  <a:schemeClr val="bg1"/>
                </a:solidFill>
              </a:defRPr>
            </a:lvl1pPr>
          </a:lstStyle>
          <a:p>
            <a:pPr algn="r" rtl="0"/>
            <a:r>
              <a:rPr lang="en-GB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Click to edit Master subtitle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AE52C2-9F43-590F-3DD7-34898044CC0E}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11486931" y="307375"/>
            <a:ext cx="419537" cy="535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4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C5A662A-E279-494E-8389-ADC6E870E38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31863" y="1695450"/>
            <a:ext cx="10328275" cy="4314825"/>
          </a:xfrm>
        </p:spPr>
        <p:txBody>
          <a:bodyPr rtlCol="0"/>
          <a:lstStyle>
            <a:lvl1pPr>
              <a:defRPr/>
            </a:lvl1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E69333A-875E-920E-74DE-11D1C10097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CH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AC4DEA-A4DC-2ABF-4A4B-88088561BD2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de-CH"/>
              <a:t>12.03.25</a:t>
            </a:r>
            <a:endParaRPr lang="en-CH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F4DFFC-31A9-0A00-9673-B9308454CF5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it-IT">
                <a:ea typeface="Source Code Pro" panose="020B0509030403020204" pitchFamily="49" charset="0"/>
                <a:cs typeface="Consolas" panose="020B0609020204030204" pitchFamily="49" charset="0"/>
                <a:sym typeface="Arial"/>
              </a:rPr>
              <a:t>© Copyright SkillAIbility 2024-2027</a:t>
            </a:r>
            <a:endParaRPr lang="it-IT" dirty="0">
              <a:ea typeface="Source Code Pro" panose="020B050903040302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A0AAC5-BCB0-83ED-0C47-B9D60D3DA3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5F2F5E0-43A3-F04E-B91C-4A3B6806AA66}" type="slidenum">
              <a:rPr lang="en-CH" smtClean="0"/>
              <a:pPr/>
              <a:t>‹N›</a:t>
            </a:fld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4271998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6E7A1B-5E12-1C4A-9EB8-B6752417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201400" y="-1"/>
            <a:ext cx="990601" cy="6858001"/>
          </a:xfrm>
          <a:prstGeom prst="rect">
            <a:avLst/>
          </a:prstGeom>
          <a:gradFill>
            <a:gsLst>
              <a:gs pos="72000">
                <a:srgbClr val="177BC7"/>
              </a:gs>
              <a:gs pos="35000">
                <a:schemeClr val="tx1">
                  <a:lumMod val="75000"/>
                  <a:lumOff val="25000"/>
                </a:schemeClr>
              </a:gs>
              <a:gs pos="93000">
                <a:srgbClr val="09BEF1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5578F2-1077-CD2D-C3DD-926580EAA1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1150466"/>
            <a:ext cx="12192001" cy="5707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`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B883BF-DD21-96C8-69E2-8F1DB97ACCF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86931" y="307375"/>
            <a:ext cx="419537" cy="535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596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EBE25CB7-5E8A-1D04-2787-F48FACE38518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899409" y="1514475"/>
            <a:ext cx="10301990" cy="454183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H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889C723-553D-F7C6-EFC4-63A607CE29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99410" y="0"/>
            <a:ext cx="10301990" cy="1150467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EE6D64-BCD9-3BE1-ADD7-9D040391C090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de-CH"/>
              <a:t>12.03.25</a:t>
            </a:r>
            <a:endParaRPr lang="en-CH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A9D11D-E6D0-40A2-F69F-4C918381F1E9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it-IT">
                <a:ea typeface="Source Code Pro" panose="020B0509030403020204" pitchFamily="49" charset="0"/>
                <a:cs typeface="Consolas" panose="020B0609020204030204" pitchFamily="49" charset="0"/>
                <a:sym typeface="Arial"/>
              </a:rPr>
              <a:t>© Copyright SkillAIbility 2024-2027</a:t>
            </a:r>
            <a:endParaRPr lang="it-IT" dirty="0">
              <a:ea typeface="Source Code Pro" panose="020B050903040302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92804-7E27-7D4B-4F3E-F27F0239D6F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5F2F5E0-43A3-F04E-B91C-4A3B6806AA66}" type="slidenum">
              <a:rPr lang="en-CH" smtClean="0"/>
              <a:pPr/>
              <a:t>‹N›</a:t>
            </a:fld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507858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7F0BA818-CA3B-46FD-9A79-7BDC1D9CA7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9410" y="1764139"/>
            <a:ext cx="5066547" cy="5976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n-GB" noProof="0" dirty="0"/>
              <a:t>Click to add subtitle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4EAD007E-B9BB-4C9F-BDC8-127A77F0F9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9410" y="2374900"/>
            <a:ext cx="5066547" cy="3365500"/>
          </a:xfrm>
        </p:spPr>
        <p:txBody>
          <a:bodyPr rtlCol="0">
            <a:normAutofit/>
          </a:bodyPr>
          <a:lstStyle>
            <a:lvl1pPr>
              <a:defRPr sz="2000"/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9ECBA1DE-781A-4AA7-86CA-0EBE52A9B4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7467" y="1764031"/>
            <a:ext cx="4943934" cy="5976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n-GB" noProof="0" dirty="0"/>
              <a:t>Click to add subtitle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53A9CA10-3BBC-41E7-A34E-C6CCFEC820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7467" y="2374900"/>
            <a:ext cx="4943934" cy="3365500"/>
          </a:xfrm>
        </p:spPr>
        <p:txBody>
          <a:bodyPr rtlCol="0">
            <a:normAutofit/>
          </a:bodyPr>
          <a:lstStyle>
            <a:lvl1pPr>
              <a:defRPr sz="2000"/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2A65D5D-26BC-FF77-0D4E-5459BC1A60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CH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E0CE80-5A2B-4CA3-65C5-4C6CDB89DB0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de-CH"/>
              <a:t>12.03.25</a:t>
            </a:r>
            <a:endParaRPr lang="en-CH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102EED-80B5-3FD5-F676-35188B7B020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it-IT">
                <a:ea typeface="Source Code Pro" panose="020B0509030403020204" pitchFamily="49" charset="0"/>
                <a:cs typeface="Consolas" panose="020B0609020204030204" pitchFamily="49" charset="0"/>
                <a:sym typeface="Arial"/>
              </a:rPr>
              <a:t>© Copyright SkillAIbility 2024-2027</a:t>
            </a:r>
            <a:endParaRPr lang="it-IT" dirty="0">
              <a:ea typeface="Source Code Pro" panose="020B050903040302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57548-E074-68CB-2906-48AB04CB88A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5F2F5E0-43A3-F04E-B91C-4A3B6806AA66}" type="slidenum">
              <a:rPr lang="en-CH" smtClean="0"/>
              <a:pPr/>
              <a:t>‹N›</a:t>
            </a:fld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09362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CF4C4703-C9D4-483C-8E41-17BB7193D0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1300" y="1764193"/>
            <a:ext cx="3327366" cy="5976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n-GB" noProof="0" dirty="0"/>
              <a:t>Click to add subtitle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7393281D-B77A-4BB8-A3E2-49E0F1259D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1193" y="2374899"/>
            <a:ext cx="3327366" cy="3485573"/>
          </a:xfrm>
        </p:spPr>
        <p:txBody>
          <a:bodyPr rtlCol="0">
            <a:normAutofit/>
          </a:bodyPr>
          <a:lstStyle>
            <a:lvl1pPr>
              <a:defRPr sz="2000"/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6B205DED-723B-48E3-AE9F-556696225C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32317" y="1764193"/>
            <a:ext cx="3327366" cy="5976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n-GB" noProof="0" dirty="0"/>
              <a:t>Click to add subtitle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77D63D24-8466-44F3-898F-5CBC42C7681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32317" y="2374899"/>
            <a:ext cx="3327366" cy="3485573"/>
          </a:xfrm>
        </p:spPr>
        <p:txBody>
          <a:bodyPr rtlCol="0">
            <a:normAutofit/>
          </a:bodyPr>
          <a:lstStyle>
            <a:lvl1pPr>
              <a:defRPr sz="2000"/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0" name="Text Placeholder 30">
            <a:extLst>
              <a:ext uri="{FF2B5EF4-FFF2-40B4-BE49-F238E27FC236}">
                <a16:creationId xmlns:a16="http://schemas.microsoft.com/office/drawing/2014/main" id="{F600D1D1-B6A8-4A4E-BC6A-897FE089CB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25393" y="1764193"/>
            <a:ext cx="3327366" cy="5976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n-GB" noProof="0" dirty="0"/>
              <a:t>Click to add subtitle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205F643-67E9-4E41-A65F-163C816090B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25393" y="2374899"/>
            <a:ext cx="3327366" cy="3485573"/>
          </a:xfrm>
        </p:spPr>
        <p:txBody>
          <a:bodyPr rtlCol="0">
            <a:normAutofit/>
          </a:bodyPr>
          <a:lstStyle>
            <a:lvl1pPr>
              <a:defRPr sz="2000"/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58190A80-63FF-AE9B-6C05-FE09D40091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CH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5648B4-D67E-F0D4-7FD8-051AE72B416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de-CH"/>
              <a:t>12.03.25</a:t>
            </a:r>
            <a:endParaRPr lang="en-CH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0EEDCB-2E2F-9E90-5257-5B4ACA7986F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it-IT">
                <a:ea typeface="Source Code Pro" panose="020B0509030403020204" pitchFamily="49" charset="0"/>
                <a:cs typeface="Consolas" panose="020B0609020204030204" pitchFamily="49" charset="0"/>
                <a:sym typeface="Arial"/>
              </a:rPr>
              <a:t>© Copyright SkillAIbility 2024-2027</a:t>
            </a:r>
            <a:endParaRPr lang="it-IT" dirty="0">
              <a:ea typeface="Source Code Pro" panose="020B050903040302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C5185-674D-A34E-0E99-C40A43673A5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5F2F5E0-43A3-F04E-B91C-4A3B6806AA66}" type="slidenum">
              <a:rPr lang="en-CH" smtClean="0"/>
              <a:pPr/>
              <a:t>‹N›</a:t>
            </a:fld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209807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7393281D-B77A-4BB8-A3E2-49E0F1259D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68634" y="1556946"/>
            <a:ext cx="8597358" cy="1150467"/>
          </a:xfrm>
        </p:spPr>
        <p:txBody>
          <a:bodyPr rtlCol="0">
            <a:normAutofit/>
          </a:bodyPr>
          <a:lstStyle>
            <a:lvl1pPr>
              <a:defRPr sz="2000"/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F591A58-D306-CCD0-1D99-85E6F99CA9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68634" y="3106932"/>
            <a:ext cx="8597358" cy="1150467"/>
          </a:xfrm>
        </p:spPr>
        <p:txBody>
          <a:bodyPr rtlCol="0">
            <a:normAutofit/>
          </a:bodyPr>
          <a:lstStyle>
            <a:lvl1pPr>
              <a:defRPr sz="2000"/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586293C9-632A-FC33-2549-0D1CC996566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68634" y="4648583"/>
            <a:ext cx="8597358" cy="1150467"/>
          </a:xfrm>
        </p:spPr>
        <p:txBody>
          <a:bodyPr rtlCol="0">
            <a:normAutofit/>
          </a:bodyPr>
          <a:lstStyle>
            <a:lvl1pPr>
              <a:defRPr sz="2000"/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E7BB919E-D312-30BE-F57C-9FB2739524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99410" y="0"/>
            <a:ext cx="10466582" cy="1150467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D688E89E-7CF7-606A-891C-3048B73B37F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26008" y="3106656"/>
            <a:ext cx="1812417" cy="1151019"/>
          </a:xfrm>
        </p:spPr>
        <p:txBody>
          <a:bodyPr/>
          <a:lstStyle/>
          <a:p>
            <a:endParaRPr lang="en-CH"/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227107B8-0400-5214-D8F4-BA4B9128BE8B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26008" y="4648307"/>
            <a:ext cx="1812417" cy="1151019"/>
          </a:xfrm>
        </p:spPr>
        <p:txBody>
          <a:bodyPr/>
          <a:lstStyle/>
          <a:p>
            <a:endParaRPr lang="en-CH"/>
          </a:p>
        </p:txBody>
      </p:sp>
      <p:sp>
        <p:nvSpPr>
          <p:cNvPr id="21" name="Picture Placeholder 18">
            <a:extLst>
              <a:ext uri="{FF2B5EF4-FFF2-40B4-BE49-F238E27FC236}">
                <a16:creationId xmlns:a16="http://schemas.microsoft.com/office/drawing/2014/main" id="{F698F2DE-479B-37D7-2C3B-1808237BB54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26008" y="1556670"/>
            <a:ext cx="1812417" cy="1151019"/>
          </a:xfrm>
        </p:spPr>
        <p:txBody>
          <a:bodyPr/>
          <a:lstStyle/>
          <a:p>
            <a:endParaRPr lang="en-CH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42090E-F15D-6A0B-5D99-015E92919FD0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r>
              <a:rPr lang="de-CH"/>
              <a:t>12.03.25</a:t>
            </a:r>
            <a:endParaRPr lang="en-CH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2208D5-F801-301B-1F15-C31927EEBB9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it-IT">
                <a:ea typeface="Source Code Pro" panose="020B0509030403020204" pitchFamily="49" charset="0"/>
                <a:cs typeface="Consolas" panose="020B0609020204030204" pitchFamily="49" charset="0"/>
                <a:sym typeface="Arial"/>
              </a:rPr>
              <a:t>© Copyright SkillAIbility 2024-2027</a:t>
            </a:r>
            <a:endParaRPr lang="it-IT" dirty="0">
              <a:ea typeface="Source Code Pro" panose="020B050903040302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B72AD-3AB6-3D1C-BAF7-E1FFF040156C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5F2F5E0-43A3-F04E-B91C-4A3B6806AA66}" type="slidenum">
              <a:rPr lang="en-CH" smtClean="0"/>
              <a:pPr/>
              <a:t>‹N›</a:t>
            </a:fld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8376721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rtn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2DA651E-10A2-1E37-0D21-2C9E485F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2191999" cy="6858000"/>
          </a:xfrm>
          <a:prstGeom prst="rect">
            <a:avLst/>
          </a:prstGeom>
          <a:gradFill>
            <a:gsLst>
              <a:gs pos="72000">
                <a:srgbClr val="177BC7"/>
              </a:gs>
              <a:gs pos="35000">
                <a:schemeClr val="tx1">
                  <a:lumMod val="75000"/>
                  <a:lumOff val="25000"/>
                </a:schemeClr>
              </a:gs>
              <a:gs pos="93000">
                <a:srgbClr val="09BEF1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CAB4C3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2AAFDE-CB45-46CA-8961-8133FCA5F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40767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209C30D-AB58-482B-B553-F71367094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4" y="776941"/>
            <a:ext cx="3209008" cy="5166659"/>
          </a:xfrm>
        </p:spPr>
        <p:txBody>
          <a:bodyPr rtlCol="0" anchor="b"/>
          <a:lstStyle>
            <a:lvl1pPr>
              <a:defRPr spc="-20" baseline="0">
                <a:gradFill>
                  <a:gsLst>
                    <a:gs pos="77000">
                      <a:srgbClr val="000000">
                        <a:alpha val="30000"/>
                      </a:srgbClr>
                    </a:gs>
                    <a:gs pos="38000">
                      <a:srgbClr val="000000">
                        <a:alpha val="20000"/>
                      </a:srgbClr>
                    </a:gs>
                    <a:gs pos="0">
                      <a:srgbClr val="000000">
                        <a:alpha val="0"/>
                      </a:srgbClr>
                    </a:gs>
                    <a:gs pos="20000">
                      <a:srgbClr val="000000">
                        <a:alpha val="0"/>
                      </a:srgbClr>
                    </a:gs>
                    <a:gs pos="100000">
                      <a:srgbClr val="000000">
                        <a:alpha val="30000"/>
                      </a:srgbClr>
                    </a:gs>
                  </a:gsLst>
                  <a:lin ang="21594000" scaled="0"/>
                </a:gradFill>
              </a:defRPr>
            </a:lvl1pPr>
          </a:lstStyle>
          <a:p>
            <a:pPr rtl="0"/>
            <a:r>
              <a:rPr lang="en-GB" noProof="0" dirty="0">
                <a:solidFill>
                  <a:srgbClr val="FFFFFF"/>
                </a:solidFill>
              </a:rPr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C95968-63B0-D74D-BA80-F694B04D6A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9044" y="315234"/>
            <a:ext cx="1674432" cy="579862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0D00683-35EA-4494-6E4D-FF4477B2269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46063" y="325394"/>
            <a:ext cx="1355383" cy="1356659"/>
          </a:xfrm>
        </p:spPr>
        <p:txBody>
          <a:bodyPr/>
          <a:lstStyle/>
          <a:p>
            <a:endParaRPr lang="en-CH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ADABA5BF-2B01-DFEB-4EA7-9A206AE908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51218" y="325394"/>
            <a:ext cx="1355383" cy="1356659"/>
          </a:xfrm>
        </p:spPr>
        <p:txBody>
          <a:bodyPr/>
          <a:lstStyle/>
          <a:p>
            <a:endParaRPr lang="en-CH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59829AA5-BCCD-865F-A25E-485F4DEF802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56373" y="325394"/>
            <a:ext cx="1355383" cy="1356659"/>
          </a:xfrm>
        </p:spPr>
        <p:txBody>
          <a:bodyPr/>
          <a:lstStyle/>
          <a:p>
            <a:endParaRPr lang="en-CH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F5CA8847-6142-5C77-E45E-BFE3BFD0C7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61527" y="325394"/>
            <a:ext cx="1355383" cy="1356659"/>
          </a:xfrm>
        </p:spPr>
        <p:txBody>
          <a:bodyPr/>
          <a:lstStyle/>
          <a:p>
            <a:endParaRPr lang="en-CH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3CB14B99-4D66-9FF3-D8DA-3B9F37BCF4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46063" y="1942245"/>
            <a:ext cx="1355383" cy="1356659"/>
          </a:xfrm>
        </p:spPr>
        <p:txBody>
          <a:bodyPr/>
          <a:lstStyle/>
          <a:p>
            <a:endParaRPr lang="en-CH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7CA767B0-C4AF-7D6F-0FD7-64E7FA2ABB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51218" y="1942245"/>
            <a:ext cx="1355383" cy="1356659"/>
          </a:xfrm>
        </p:spPr>
        <p:txBody>
          <a:bodyPr/>
          <a:lstStyle/>
          <a:p>
            <a:endParaRPr lang="en-CH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E6D7AAF0-DCEB-F27D-3566-E3096BDE161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356373" y="1924747"/>
            <a:ext cx="1355383" cy="1356659"/>
          </a:xfrm>
        </p:spPr>
        <p:txBody>
          <a:bodyPr/>
          <a:lstStyle/>
          <a:p>
            <a:endParaRPr lang="en-CH" dirty="0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DE6E010-C967-1806-8872-B7AE5B41905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61527" y="1924747"/>
            <a:ext cx="1355383" cy="1356659"/>
          </a:xfrm>
        </p:spPr>
        <p:txBody>
          <a:bodyPr/>
          <a:lstStyle/>
          <a:p>
            <a:endParaRPr lang="en-CH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739B77A9-1BAD-88FA-B4A3-7B9FF13BC80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746063" y="3559096"/>
            <a:ext cx="1355383" cy="1356659"/>
          </a:xfrm>
        </p:spPr>
        <p:txBody>
          <a:bodyPr/>
          <a:lstStyle/>
          <a:p>
            <a:endParaRPr lang="en-CH"/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FED4A0D2-ED9E-59A5-A849-195330E9B82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51218" y="3559096"/>
            <a:ext cx="1355383" cy="1356659"/>
          </a:xfrm>
        </p:spPr>
        <p:txBody>
          <a:bodyPr/>
          <a:lstStyle/>
          <a:p>
            <a:endParaRPr lang="en-CH"/>
          </a:p>
        </p:txBody>
      </p:sp>
      <p:sp>
        <p:nvSpPr>
          <p:cNvPr id="22" name="Picture Placeholder 9">
            <a:extLst>
              <a:ext uri="{FF2B5EF4-FFF2-40B4-BE49-F238E27FC236}">
                <a16:creationId xmlns:a16="http://schemas.microsoft.com/office/drawing/2014/main" id="{768A8174-0993-7F1D-C394-ECD196076B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56373" y="3524100"/>
            <a:ext cx="1355383" cy="1356659"/>
          </a:xfrm>
        </p:spPr>
        <p:txBody>
          <a:bodyPr/>
          <a:lstStyle/>
          <a:p>
            <a:endParaRPr lang="en-CH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D40200EB-D5A8-B0A3-B672-68D02DAF5E0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161527" y="3524100"/>
            <a:ext cx="1355383" cy="1356659"/>
          </a:xfrm>
        </p:spPr>
        <p:txBody>
          <a:bodyPr/>
          <a:lstStyle/>
          <a:p>
            <a:endParaRPr lang="en-CH" dirty="0"/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6DF71A80-B797-BAF0-1309-411C21F5C73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746063" y="5175947"/>
            <a:ext cx="1355383" cy="1356659"/>
          </a:xfrm>
        </p:spPr>
        <p:txBody>
          <a:bodyPr/>
          <a:lstStyle/>
          <a:p>
            <a:endParaRPr lang="en-CH"/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27C31B56-A882-0753-96F7-745ACABF83D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51218" y="5175947"/>
            <a:ext cx="1355383" cy="1356659"/>
          </a:xfrm>
        </p:spPr>
        <p:txBody>
          <a:bodyPr/>
          <a:lstStyle/>
          <a:p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64617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47480B2-6041-B501-8C1A-2A91734E2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2191999" cy="6858000"/>
          </a:xfrm>
          <a:prstGeom prst="rect">
            <a:avLst/>
          </a:prstGeom>
          <a:gradFill>
            <a:gsLst>
              <a:gs pos="72000">
                <a:srgbClr val="177BC7"/>
              </a:gs>
              <a:gs pos="35000">
                <a:schemeClr val="tx1">
                  <a:lumMod val="75000"/>
                  <a:lumOff val="25000"/>
                </a:schemeClr>
              </a:gs>
              <a:gs pos="93000">
                <a:srgbClr val="09BEF1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CAB4C3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2" name="Picture 1" descr="A blue and white wavy lines&#10;&#10;Description automatically generated">
            <a:extLst>
              <a:ext uri="{FF2B5EF4-FFF2-40B4-BE49-F238E27FC236}">
                <a16:creationId xmlns:a16="http://schemas.microsoft.com/office/drawing/2014/main" id="{E6879CF0-6D78-D2F3-B09D-D5632CF37D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 rot="10800000">
            <a:off x="-19055" y="0"/>
            <a:ext cx="12211051" cy="6865938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0EB35A47-5CB7-6476-92AD-6A7E66AA1E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07930" y="397838"/>
            <a:ext cx="10976141" cy="6062325"/>
          </a:xfrm>
          <a:prstGeom prst="roundRect">
            <a:avLst>
              <a:gd name="adj" fmla="val 3733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2557B6-0574-39E2-7800-6CBC7EC1BA4B}"/>
              </a:ext>
            </a:extLst>
          </p:cNvPr>
          <p:cNvSpPr txBox="1"/>
          <p:nvPr userDrawn="1"/>
        </p:nvSpPr>
        <p:spPr>
          <a:xfrm>
            <a:off x="2450344" y="1975447"/>
            <a:ext cx="729130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23F50A-2A3B-6DE9-42DA-0924848AD48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303259" y="4065068"/>
            <a:ext cx="9585477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Arial" panose="020B0604020202020204" pitchFamily="34" charset="0"/>
              </a:rPr>
              <a:t>GET IN TOUCH</a:t>
            </a:r>
          </a:p>
        </p:txBody>
      </p:sp>
      <p:sp>
        <p:nvSpPr>
          <p:cNvPr id="28" name="Google Shape;231;p15">
            <a:extLst>
              <a:ext uri="{FF2B5EF4-FFF2-40B4-BE49-F238E27FC236}">
                <a16:creationId xmlns:a16="http://schemas.microsoft.com/office/drawing/2014/main" id="{90488E25-7C62-FF5A-ED38-8456ECFA9418}"/>
              </a:ext>
            </a:extLst>
          </p:cNvPr>
          <p:cNvSpPr txBox="1"/>
          <p:nvPr userDrawn="1"/>
        </p:nvSpPr>
        <p:spPr>
          <a:xfrm>
            <a:off x="7355159" y="5586423"/>
            <a:ext cx="407845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t-IT" sz="900" b="0" i="0" u="none" strike="noStrike" cap="none" spc="50" baseline="0" dirty="0">
                <a:solidFill>
                  <a:schemeClr val="bg1"/>
                </a:solidFill>
                <a:latin typeface="+mn-lt"/>
                <a:ea typeface="Source Code Pro" panose="020B0509030403020204" pitchFamily="49" charset="0"/>
                <a:cs typeface="Consolas" panose="020B0609020204030204" pitchFamily="49" charset="0"/>
                <a:sym typeface="Montserrat"/>
              </a:rPr>
              <a:t>The SkillAIbility project received funding from the European Union's Horizon Europe Research and Innovation Programme under Grant Agreement No </a:t>
            </a:r>
            <a:r>
              <a:rPr lang="en-US" sz="900" b="0" i="0" spc="50" baseline="0" dirty="0">
                <a:solidFill>
                  <a:schemeClr val="bg1"/>
                </a:solidFill>
                <a:latin typeface="+mn-lt"/>
                <a:ea typeface="Source Code Pro" panose="020B0509030403020204" pitchFamily="49" charset="0"/>
                <a:cs typeface="Consolas" panose="020B0609020204030204" pitchFamily="49" charset="0"/>
              </a:rPr>
              <a:t>101177783. </a:t>
            </a:r>
            <a:r>
              <a:rPr lang="en-GB" sz="900" b="0" i="0" u="none" strike="noStrike" cap="none" spc="50" baseline="0" dirty="0">
                <a:solidFill>
                  <a:schemeClr val="bg1"/>
                </a:solidFill>
                <a:latin typeface="+mn-lt"/>
                <a:ea typeface="Source Code Pro" panose="020B0509030403020204" pitchFamily="49" charset="0"/>
                <a:cs typeface="Consolas" panose="020B0609020204030204" pitchFamily="49" charset="0"/>
                <a:sym typeface="Montserrat"/>
              </a:rPr>
              <a:t>This work has received funding from the Swiss State Secretariat for Education, Research and Innovation (SERI).</a:t>
            </a:r>
            <a:endParaRPr sz="900" b="0" i="0" u="none" strike="noStrike" cap="none" spc="50" baseline="0" dirty="0">
              <a:solidFill>
                <a:schemeClr val="bg1"/>
              </a:solidFill>
              <a:latin typeface="+mn-lt"/>
              <a:ea typeface="Source Code Pro" panose="020B0509030403020204" pitchFamily="49" charset="0"/>
              <a:cs typeface="Consolas" panose="020B0609020204030204" pitchFamily="49" charset="0"/>
              <a:sym typeface="Montserrat"/>
            </a:endParaRPr>
          </a:p>
        </p:txBody>
      </p:sp>
      <p:pic>
        <p:nvPicPr>
          <p:cNvPr id="29" name="Picture 28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9B67B540-47B4-C3A2-91B8-051230F083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160" y="5706983"/>
            <a:ext cx="1823264" cy="405170"/>
          </a:xfrm>
          <a:prstGeom prst="rect">
            <a:avLst/>
          </a:prstGeom>
        </p:spPr>
      </p:pic>
      <p:pic>
        <p:nvPicPr>
          <p:cNvPr id="30" name="Picture 29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5577EE62-81D2-2C50-3652-E164F475D3E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2050" y="5577507"/>
            <a:ext cx="2624483" cy="66412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4386AAC-1341-6763-8E34-C8AD73B2554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258782" y="784434"/>
            <a:ext cx="1674432" cy="579862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66E4528-A728-EAC0-F690-C76F0D788060}"/>
              </a:ext>
            </a:extLst>
          </p:cNvPr>
          <p:cNvGrpSpPr/>
          <p:nvPr userDrawn="1"/>
        </p:nvGrpSpPr>
        <p:grpSpPr>
          <a:xfrm>
            <a:off x="2116652" y="4627613"/>
            <a:ext cx="7958696" cy="395189"/>
            <a:chOff x="2470640" y="4627613"/>
            <a:chExt cx="7958696" cy="395189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1DF975B-7DC9-D6A9-E30A-CCE1599F6AA2}"/>
                </a:ext>
              </a:extLst>
            </p:cNvPr>
            <p:cNvGrpSpPr/>
            <p:nvPr userDrawn="1"/>
          </p:nvGrpSpPr>
          <p:grpSpPr>
            <a:xfrm>
              <a:off x="5640960" y="4627613"/>
              <a:ext cx="1950158" cy="395189"/>
              <a:chOff x="5613664" y="4627613"/>
              <a:chExt cx="1950158" cy="395189"/>
            </a:xfrm>
          </p:grpSpPr>
          <p:sp>
            <p:nvSpPr>
              <p:cNvPr id="25" name="Rectangle: Rounded Corners 12">
                <a:extLst>
                  <a:ext uri="{FF2B5EF4-FFF2-40B4-BE49-F238E27FC236}">
                    <a16:creationId xmlns:a16="http://schemas.microsoft.com/office/drawing/2014/main" id="{9FD0330F-FC9F-1B33-8171-DFB93492651D}"/>
                  </a:ext>
                </a:extLst>
              </p:cNvPr>
              <p:cNvSpPr/>
              <p:nvPr/>
            </p:nvSpPr>
            <p:spPr>
              <a:xfrm>
                <a:off x="5613664" y="4627613"/>
                <a:ext cx="395189" cy="395189"/>
              </a:xfrm>
              <a:prstGeom prst="roundRect">
                <a:avLst/>
              </a:prstGeom>
              <a:gradFill flip="none" rotWithShape="1">
                <a:gsLst>
                  <a:gs pos="0">
                    <a:srgbClr val="09BEF1"/>
                  </a:gs>
                  <a:gs pos="42000">
                    <a:schemeClr val="tx2"/>
                  </a:gs>
                </a:gsLst>
                <a:lin ang="18900000" scaled="1"/>
                <a:tileRect/>
              </a:gradFill>
              <a:ln w="12700" cap="rnd">
                <a:noFill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9052D85-C218-685F-C1F0-479EE7CAACF2}"/>
                  </a:ext>
                </a:extLst>
              </p:cNvPr>
              <p:cNvSpPr txBox="1"/>
              <p:nvPr/>
            </p:nvSpPr>
            <p:spPr>
              <a:xfrm>
                <a:off x="6043906" y="4686707"/>
                <a:ext cx="151991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spc="0" dirty="0">
                    <a:solidFill>
                      <a:schemeClr val="bg1"/>
                    </a:solidFill>
                    <a:latin typeface="+mn-lt"/>
                    <a:ea typeface="Source Code Pro" panose="020B0509030403020204" pitchFamily="49" charset="0"/>
                    <a:cs typeface="Consolas" panose="020B0609020204030204" pitchFamily="49" charset="0"/>
                  </a:rPr>
                  <a:t>SKILLAIBILITY.EU</a:t>
                </a:r>
              </a:p>
            </p:txBody>
          </p:sp>
          <p:pic>
            <p:nvPicPr>
              <p:cNvPr id="27" name="Graphic 26">
                <a:extLst>
                  <a:ext uri="{FF2B5EF4-FFF2-40B4-BE49-F238E27FC236}">
                    <a16:creationId xmlns:a16="http://schemas.microsoft.com/office/drawing/2014/main" id="{C614B742-9AC4-40C5-FFE0-72F28556CD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668718" y="4682667"/>
                <a:ext cx="285080" cy="285080"/>
              </a:xfrm>
              <a:prstGeom prst="rect">
                <a:avLst/>
              </a:prstGeom>
            </p:spPr>
          </p:pic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1EB549A-1743-4EE9-57FF-0F7A5167E441}"/>
                </a:ext>
              </a:extLst>
            </p:cNvPr>
            <p:cNvGrpSpPr/>
            <p:nvPr/>
          </p:nvGrpSpPr>
          <p:grpSpPr>
            <a:xfrm>
              <a:off x="2470640" y="4627613"/>
              <a:ext cx="2595047" cy="395189"/>
              <a:chOff x="1940377" y="4484340"/>
              <a:chExt cx="2595047" cy="395189"/>
            </a:xfrm>
          </p:grpSpPr>
          <p:sp>
            <p:nvSpPr>
              <p:cNvPr id="21" name="Rectangle: Rounded Corners 10">
                <a:extLst>
                  <a:ext uri="{FF2B5EF4-FFF2-40B4-BE49-F238E27FC236}">
                    <a16:creationId xmlns:a16="http://schemas.microsoft.com/office/drawing/2014/main" id="{4064A11A-79BB-EC07-C480-D508021F54EC}"/>
                  </a:ext>
                </a:extLst>
              </p:cNvPr>
              <p:cNvSpPr/>
              <p:nvPr/>
            </p:nvSpPr>
            <p:spPr>
              <a:xfrm>
                <a:off x="1940377" y="4484340"/>
                <a:ext cx="395189" cy="395189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43000">
                    <a:schemeClr val="tx2"/>
                  </a:gs>
                </a:gsLst>
                <a:lin ang="18900000" scaled="1"/>
                <a:tileRect/>
              </a:gradFill>
              <a:ln w="12700" cap="rnd">
                <a:noFill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4695CA7-095E-5D77-C0F2-B5B015794CFB}"/>
                  </a:ext>
                </a:extLst>
              </p:cNvPr>
              <p:cNvSpPr txBox="1"/>
              <p:nvPr/>
            </p:nvSpPr>
            <p:spPr>
              <a:xfrm>
                <a:off x="2350836" y="4543435"/>
                <a:ext cx="218458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spc="0" dirty="0">
                    <a:solidFill>
                      <a:schemeClr val="bg1"/>
                    </a:solidFill>
                    <a:latin typeface="+mn-lt"/>
                    <a:ea typeface="Source Code Pro" panose="020B0509030403020204" pitchFamily="49" charset="0"/>
                    <a:cs typeface="Consolas" panose="020B0609020204030204" pitchFamily="49" charset="0"/>
                  </a:rPr>
                  <a:t>INFO@SKILLAIBILITY.EU</a:t>
                </a:r>
              </a:p>
            </p:txBody>
          </p:sp>
          <p:pic>
            <p:nvPicPr>
              <p:cNvPr id="24" name="Graphic 23">
                <a:extLst>
                  <a:ext uri="{FF2B5EF4-FFF2-40B4-BE49-F238E27FC236}">
                    <a16:creationId xmlns:a16="http://schemas.microsoft.com/office/drawing/2014/main" id="{37B4F733-8195-EA6E-4349-8496B9E6AD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2006122" y="4543434"/>
                <a:ext cx="276999" cy="276999"/>
              </a:xfrm>
              <a:prstGeom prst="rect">
                <a:avLst/>
              </a:prstGeom>
            </p:spPr>
          </p:pic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62A46AF-48E1-3ED0-7730-6BDBEEF2F240}"/>
                </a:ext>
              </a:extLst>
            </p:cNvPr>
            <p:cNvGrpSpPr/>
            <p:nvPr userDrawn="1"/>
          </p:nvGrpSpPr>
          <p:grpSpPr>
            <a:xfrm>
              <a:off x="8166391" y="4627613"/>
              <a:ext cx="2262945" cy="395189"/>
              <a:chOff x="8166391" y="4627613"/>
              <a:chExt cx="2262945" cy="395189"/>
            </a:xfrm>
          </p:grpSpPr>
          <p:sp>
            <p:nvSpPr>
              <p:cNvPr id="17" name="Rectangle: Rounded Corners 14">
                <a:extLst>
                  <a:ext uri="{FF2B5EF4-FFF2-40B4-BE49-F238E27FC236}">
                    <a16:creationId xmlns:a16="http://schemas.microsoft.com/office/drawing/2014/main" id="{6A35DB2F-CBAF-AD8D-E1A2-5CA259992180}"/>
                  </a:ext>
                </a:extLst>
              </p:cNvPr>
              <p:cNvSpPr/>
              <p:nvPr/>
            </p:nvSpPr>
            <p:spPr>
              <a:xfrm>
                <a:off x="8166391" y="4627613"/>
                <a:ext cx="395189" cy="395189"/>
              </a:xfrm>
              <a:prstGeom prst="roundRect">
                <a:avLst/>
              </a:prstGeom>
              <a:gradFill flip="none" rotWithShape="1">
                <a:gsLst>
                  <a:gs pos="57000">
                    <a:schemeClr val="tx2"/>
                  </a:gs>
                  <a:gs pos="100000">
                    <a:srgbClr val="09BEF1"/>
                  </a:gs>
                </a:gsLst>
                <a:lin ang="8100000" scaled="1"/>
                <a:tileRect/>
              </a:gradFill>
              <a:ln w="12700" cap="rnd">
                <a:noFill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12B4886-37A9-0E8E-09FE-A1B5C4038AF2}"/>
                  </a:ext>
                </a:extLst>
              </p:cNvPr>
              <p:cNvSpPr txBox="1"/>
              <p:nvPr/>
            </p:nvSpPr>
            <p:spPr>
              <a:xfrm>
                <a:off x="8592505" y="4686708"/>
                <a:ext cx="183683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spc="0" dirty="0">
                    <a:solidFill>
                      <a:schemeClr val="bg1"/>
                    </a:solidFill>
                    <a:latin typeface="+mn-lt"/>
                    <a:ea typeface="Source Code Pro" panose="020B0509030403020204" pitchFamily="49" charset="0"/>
                    <a:cs typeface="Consolas" panose="020B0609020204030204" pitchFamily="49" charset="0"/>
                  </a:rPr>
                  <a:t>COMPANY/SKILLAIBILITY</a:t>
                </a:r>
              </a:p>
            </p:txBody>
          </p:sp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3E99538A-CDFE-2311-A855-85079349685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8"/>
              <a:stretch>
                <a:fillRect/>
              </a:stretch>
            </p:blipFill>
            <p:spPr>
              <a:xfrm>
                <a:off x="8211905" y="4673126"/>
                <a:ext cx="304159" cy="30415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1346769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B4702B-D08D-D154-0D5D-BAAC2A971F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598269"/>
            <a:ext cx="12192000" cy="2856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www.skillaibility.eu</a:t>
            </a:r>
            <a:endParaRPr kumimoji="0" lang="en-GB" sz="1000" b="0" i="0" u="none" strike="noStrike" kern="1200" cap="none" spc="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64F28F-6780-637F-B3B8-BAF6C17D8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11504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530C2C-5DF3-EEAB-5285-40F654D7D5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201400" y="-1"/>
            <a:ext cx="990601" cy="6858001"/>
          </a:xfrm>
          <a:prstGeom prst="rect">
            <a:avLst/>
          </a:prstGeom>
          <a:gradFill>
            <a:gsLst>
              <a:gs pos="72000">
                <a:srgbClr val="177BC7"/>
              </a:gs>
              <a:gs pos="35000">
                <a:schemeClr val="tx1">
                  <a:lumMod val="75000"/>
                  <a:lumOff val="25000"/>
                </a:schemeClr>
              </a:gs>
              <a:gs pos="93000">
                <a:srgbClr val="09BEF1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D4567B-87A4-A0DD-FEA0-A8D02C65A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1150466"/>
            <a:ext cx="12192001" cy="54518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`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3E30A8-0D9C-47BB-8249-8A2EEEFC72D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99410" y="0"/>
            <a:ext cx="10301990" cy="11504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93687-61FE-460F-A66F-4DF17994F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9408" y="1484026"/>
            <a:ext cx="10301991" cy="4697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22EA6E-F66C-9E3D-ADB2-CC7D722322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-1" y="6619804"/>
            <a:ext cx="3849511" cy="2466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 spc="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>
                <a:ea typeface="Source Code Pro" panose="020B0509030403020204" pitchFamily="49" charset="0"/>
                <a:cs typeface="Consolas" panose="020B0609020204030204" pitchFamily="49" charset="0"/>
                <a:sym typeface="Arial"/>
              </a:rPr>
              <a:t>© Copyright SkillAIbility 2024-2027</a:t>
            </a:r>
            <a:endParaRPr lang="it-IT" dirty="0">
              <a:ea typeface="Source Code Pro" panose="020B050903040302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FD100-B616-2C5E-477A-504FBD1188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1201399" y="6619804"/>
            <a:ext cx="990601" cy="246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50">
                <a:solidFill>
                  <a:schemeClr val="bg1"/>
                </a:solidFill>
              </a:defRPr>
            </a:lvl1pPr>
          </a:lstStyle>
          <a:p>
            <a:fld id="{45F2F5E0-43A3-F04E-B91C-4A3B6806AA66}" type="slidenum">
              <a:rPr lang="en-CH" smtClean="0"/>
              <a:pPr/>
              <a:t>‹N›</a:t>
            </a:fld>
            <a:endParaRPr lang="en-CH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FABEF6A9-C624-97EB-F683-212F325A65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08820" y="6623735"/>
            <a:ext cx="1292578" cy="242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de-CH" dirty="0"/>
              <a:t>12.03.25</a:t>
            </a:r>
            <a:endParaRPr lang="en-CH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7A1072-FC83-334F-65D3-CB4868DB5B1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1486931" y="307375"/>
            <a:ext cx="419537" cy="535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840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7" r:id="rId4"/>
    <p:sldLayoutId id="2147483655" r:id="rId5"/>
    <p:sldLayoutId id="2147483656" r:id="rId6"/>
    <p:sldLayoutId id="2147483689" r:id="rId7"/>
    <p:sldLayoutId id="2147483688" r:id="rId8"/>
    <p:sldLayoutId id="2147483658" r:id="rId9"/>
    <p:sldLayoutId id="2147483659" r:id="rId10"/>
    <p:sldLayoutId id="2147483686" r:id="rId11"/>
    <p:sldLayoutId id="2147483687" r:id="rId12"/>
    <p:sldLayoutId id="2147483685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0" kern="1200" spc="-4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tx1"/>
        </a:buClr>
        <a:buFontTx/>
        <a:buNone/>
        <a:defRPr sz="2400" kern="1200" spc="-2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tx1"/>
        </a:buClr>
        <a:buFontTx/>
        <a:buNone/>
        <a:defRPr sz="2000" kern="1200" spc="-2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tx1"/>
        </a:buClr>
        <a:buFontTx/>
        <a:buNone/>
        <a:defRPr sz="1800" kern="1200" spc="-2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tx1"/>
        </a:buClr>
        <a:buFontTx/>
        <a:buNone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tx1"/>
        </a:buClr>
        <a:buFontTx/>
        <a:buNone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Chalmers contribution to WP3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261872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4A526B"/>
                </a:solidFill>
              </a:rPr>
              <a:t>T3.2 Skill-gap mapping &amp; personas · T3.3 Assessment methodologies — from human-centric criteria to an interactive workshop toolkit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" y="1737360"/>
            <a:ext cx="1170432" cy="109728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1764792"/>
            <a:ext cx="11704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 i="0">
                <a:solidFill>
                  <a:srgbClr val="0092CA"/>
                </a:solidFill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176272"/>
            <a:ext cx="10789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B1138"/>
                </a:solidFill>
              </a:rPr>
              <a:t>publications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505456"/>
            <a:ext cx="1078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4A526B"/>
                </a:solidFill>
              </a:rPr>
              <a:t>IFAC · APMS · SPS ×2 · PLM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39696" y="1737360"/>
            <a:ext cx="1170432" cy="109728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139696" y="1764792"/>
            <a:ext cx="11704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 i="0">
                <a:solidFill>
                  <a:srgbClr val="0092CA"/>
                </a:solidFill>
              </a:rPr>
              <a:t>118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85415" y="2176272"/>
            <a:ext cx="10789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B1138"/>
                </a:solidFill>
              </a:rPr>
              <a:t>workshop participants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85415" y="2505456"/>
            <a:ext cx="1078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4A526B"/>
                </a:solidFill>
              </a:rPr>
              <a:t>2 AIM co-creation events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737360"/>
            <a:ext cx="1170432" cy="109728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383280" y="1764792"/>
            <a:ext cx="11704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 i="0">
                <a:solidFill>
                  <a:srgbClr val="0092CA"/>
                </a:solidFill>
              </a:rPr>
              <a:t>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176272"/>
            <a:ext cx="10789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B1138"/>
                </a:solidFill>
              </a:rPr>
              <a:t>survey respondents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505456"/>
            <a:ext cx="1078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4A526B"/>
                </a:solidFill>
              </a:rPr>
              <a:t>managers &amp; experts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26864" y="1737360"/>
            <a:ext cx="1170432" cy="109728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626864" y="1764792"/>
            <a:ext cx="11704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 i="0">
                <a:solidFill>
                  <a:srgbClr val="0092CA"/>
                </a:solidFill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2584" y="2176272"/>
            <a:ext cx="10789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B1138"/>
                </a:solidFill>
              </a:rPr>
              <a:t>operator interviews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4" y="2505456"/>
            <a:ext cx="1078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4A526B"/>
                </a:solidFill>
              </a:rPr>
              <a:t>SSAB · System 3R · Natl. Gummi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" y="2971800"/>
            <a:ext cx="4892040" cy="3200400"/>
          </a:xfrm>
          <a:prstGeom prst="roundRect">
            <a:avLst>
              <a:gd name="adj" fmla="val 8000"/>
            </a:avLst>
          </a:prstGeom>
          <a:solidFill>
            <a:srgbClr val="E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78992" y="3063240"/>
            <a:ext cx="4526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0092CA"/>
                </a:solidFill>
              </a:rPr>
              <a:t>Research results feeding D3.2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3429000"/>
            <a:ext cx="4526279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400"/>
              </a:spcAft>
              <a:buChar char="•"/>
            </a:pPr>
            <a:r>
              <a:rPr sz="950" b="1" i="0">
                <a:solidFill>
                  <a:srgbClr val="0B1138"/>
                </a:solidFill>
              </a:rPr>
              <a:t>Worker-demand taxonomy</a:t>
            </a:r>
            <a:r>
              <a:rPr sz="950" b="0" i="0">
                <a:solidFill>
                  <a:srgbClr val="0B1138"/>
                </a:solidFill>
              </a:rPr>
              <a:t> – core (physical / cognitive / sensing) and contextual demands (leadership, training, social inclusion) · SPS 2026</a:t>
            </a:r>
          </a:p>
          <a:p>
            <a:pPr algn="l" marL="164592" indent="-164592">
              <a:spcAft>
                <a:spcPts val="400"/>
              </a:spcAft>
              <a:buChar char="•"/>
            </a:pPr>
            <a:r>
              <a:rPr sz="950" b="1" i="0">
                <a:solidFill>
                  <a:srgbClr val="0B1138"/>
                </a:solidFill>
              </a:rPr>
              <a:t>Human–AI collaboration principles</a:t>
            </a:r>
            <a:r>
              <a:rPr sz="950" b="0" i="0">
                <a:solidFill>
                  <a:srgbClr val="0B1138"/>
                </a:solidFill>
              </a:rPr>
              <a:t> – trust, autonomy, usability for shared tasks · APMS 2026</a:t>
            </a:r>
          </a:p>
          <a:p>
            <a:pPr algn="l" marL="164592" indent="-164592">
              <a:spcAft>
                <a:spcPts val="400"/>
              </a:spcAft>
              <a:buChar char="•"/>
            </a:pPr>
            <a:r>
              <a:rPr sz="950" b="1" i="0">
                <a:solidFill>
                  <a:srgbClr val="0B1138"/>
                </a:solidFill>
              </a:rPr>
              <a:t>Five vulnerable-group personas</a:t>
            </a:r>
            <a:r>
              <a:rPr sz="950" b="0" i="0">
                <a:solidFill>
                  <a:srgbClr val="0B1138"/>
                </a:solidFill>
              </a:rPr>
              <a:t> + multimodal-redundancy design principle · PLM 2026</a:t>
            </a:r>
          </a:p>
          <a:p>
            <a:pPr algn="l" marL="164592" indent="-164592">
              <a:spcAft>
                <a:spcPts val="400"/>
              </a:spcAft>
              <a:buChar char="•"/>
            </a:pPr>
            <a:r>
              <a:rPr sz="950" b="1" i="0">
                <a:solidFill>
                  <a:srgbClr val="0B1138"/>
                </a:solidFill>
              </a:rPr>
              <a:t>Operator evidence</a:t>
            </a:r>
            <a:r>
              <a:rPr sz="950" b="0" i="0">
                <a:solidFill>
                  <a:srgbClr val="0B1138"/>
                </a:solidFill>
              </a:rPr>
              <a:t> – 10 interviews → 6 human-centric factors, 5 implementation principles (involvement, transparency, social learning, learning by doing, continuous governance)</a:t>
            </a:r>
          </a:p>
          <a:p>
            <a:pPr algn="l" marL="164592" indent="-164592">
              <a:spcAft>
                <a:spcPts val="400"/>
              </a:spcAft>
              <a:buChar char="•"/>
            </a:pPr>
            <a:r>
              <a:rPr sz="950" b="1" i="0">
                <a:solidFill>
                  <a:srgbClr val="0B1138"/>
                </a:solidFill>
              </a:rPr>
              <a:t>Actionable requirement lists</a:t>
            </a:r>
            <a:r>
              <a:rPr sz="950" b="0" i="0">
                <a:solidFill>
                  <a:srgbClr val="0B1138"/>
                </a:solidFill>
              </a:rPr>
              <a:t> – Task characteristics TA1–9, Technology requirements TE1–16, Organisational conditions OR1–10, mapped per worker group × learning pathway</a:t>
            </a:r>
          </a:p>
          <a:p>
            <a:pPr algn="l" marL="164592" indent="-164592">
              <a:spcAft>
                <a:spcPts val="400"/>
              </a:spcAft>
              <a:buChar char="•"/>
            </a:pPr>
            <a:r>
              <a:rPr sz="950" b="1" i="0">
                <a:solidFill>
                  <a:srgbClr val="0B1138"/>
                </a:solidFill>
              </a:rPr>
              <a:t>Assessment building blocks</a:t>
            </a:r>
            <a:r>
              <a:rPr sz="950" b="0" i="0">
                <a:solidFill>
                  <a:srgbClr val="0B1138"/>
                </a:solidFill>
              </a:rPr>
              <a:t> – user journeys, goals &amp; metrics, micro → macro KPIs, human value–technology fit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1737360"/>
            <a:ext cx="525780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9B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6172200" y="1572768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09B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172200" y="1572768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0B1138"/>
                </a:solidFill>
              </a:rPr>
              <a:t>MAIN OUTCOME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993392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0B1138"/>
                </a:solidFill>
              </a:rPr>
              <a:t>Interactive Workshop Toolkit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395728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1">
                <a:solidFill>
                  <a:srgbClr val="4A526B"/>
                </a:solidFill>
              </a:rPr>
              <a:t>Turns the WP3 models into a browser-based, data-collecting workshop – no login, no install.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2743200"/>
            <a:ext cx="2606040" cy="1719072"/>
          </a:xfrm>
          <a:prstGeom prst="roundRect">
            <a:avLst>
              <a:gd name="adj" fmla="val 8000"/>
            </a:avLst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Picture 29" descr="s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788920"/>
            <a:ext cx="2514600" cy="1572768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8961120" y="2743200"/>
            <a:ext cx="2103120" cy="475488"/>
          </a:xfrm>
          <a:prstGeom prst="roundRect">
            <a:avLst>
              <a:gd name="adj" fmla="val 8000"/>
            </a:avLst>
          </a:prstGeom>
          <a:solidFill>
            <a:srgbClr val="C9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9025128" y="2825496"/>
            <a:ext cx="310896" cy="310896"/>
          </a:xfrm>
          <a:prstGeom prst="ellipse">
            <a:avLst/>
          </a:prstGeom>
          <a:solidFill>
            <a:srgbClr val="1A8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2788920"/>
            <a:ext cx="16276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B1138"/>
                </a:solidFill>
              </a:rPr>
              <a:t>Workforce canvas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2990088"/>
            <a:ext cx="16276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4A526B"/>
                </a:solidFill>
              </a:rPr>
              <a:t>open brainstorming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20" y="3291840"/>
            <a:ext cx="2103120" cy="475488"/>
          </a:xfrm>
          <a:prstGeom prst="roundRect">
            <a:avLst>
              <a:gd name="adj" fmla="val 8000"/>
            </a:avLst>
          </a:prstGeom>
          <a:solidFill>
            <a:srgbClr val="D9F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9025128" y="3374136"/>
            <a:ext cx="310896" cy="310896"/>
          </a:xfrm>
          <a:prstGeom prst="ellipse">
            <a:avLst/>
          </a:prstGeom>
          <a:solidFill>
            <a:srgbClr val="4F8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3337560"/>
            <a:ext cx="16276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B1138"/>
                </a:solidFill>
              </a:rPr>
              <a:t>Assessment matrix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3538728"/>
            <a:ext cx="16276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4A526B"/>
                </a:solidFill>
              </a:rPr>
              <a:t>checklists → linked solution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61120" y="3840480"/>
            <a:ext cx="2103120" cy="475488"/>
          </a:xfrm>
          <a:prstGeom prst="roundRect">
            <a:avLst>
              <a:gd name="adj" fmla="val 8000"/>
            </a:avLst>
          </a:prstGeom>
          <a:solidFill>
            <a:srgbClr val="FCE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9025128" y="3922776"/>
            <a:ext cx="310896" cy="310896"/>
          </a:xfrm>
          <a:prstGeom prst="ellipse">
            <a:avLst/>
          </a:prstGeom>
          <a:solidFill>
            <a:srgbClr val="A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3886200"/>
            <a:ext cx="16276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B1138"/>
                </a:solidFill>
              </a:rPr>
              <a:t>Use case matching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4087368"/>
            <a:ext cx="16276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4A526B"/>
                </a:solidFill>
              </a:rPr>
              <a:t>gaps vs. real use cases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526280"/>
            <a:ext cx="480060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300"/>
              </a:spcAft>
              <a:buChar char="•"/>
            </a:pPr>
            <a:r>
              <a:rPr sz="900" b="1" i="0">
                <a:solidFill>
                  <a:srgbClr val="0B1138"/>
                </a:solidFill>
              </a:rPr>
              <a:t>Interconnected: </a:t>
            </a:r>
            <a:r>
              <a:rPr sz="900" b="0" i="0">
                <a:solidFill>
                  <a:srgbClr val="0B1138"/>
                </a:solidFill>
              </a:rPr>
              <a:t>shared worker groups, learning pathways and TA / TE / OR lists; canvas and solution canvas mirrored live</a:t>
            </a:r>
          </a:p>
          <a:p>
            <a:pPr algn="l" marL="164592" indent="-164592">
              <a:spcAft>
                <a:spcPts val="300"/>
              </a:spcAft>
              <a:buChar char="•"/>
            </a:pPr>
            <a:r>
              <a:rPr sz="900" b="1" i="0">
                <a:solidFill>
                  <a:srgbClr val="0B1138"/>
                </a:solidFill>
              </a:rPr>
              <a:t>Guided flows: </a:t>
            </a:r>
            <a:r>
              <a:rPr sz="900" b="0" i="0">
                <a:solidFill>
                  <a:srgbClr val="0B1138"/>
                </a:solidFill>
              </a:rPr>
              <a:t>Industrial (2 steps, 40–60 min) and Professional (4 steps, 65–90 min), instructions and timing at every step</a:t>
            </a:r>
          </a:p>
          <a:p>
            <a:pPr algn="l" marL="164592" indent="-164592">
              <a:spcAft>
                <a:spcPts val="300"/>
              </a:spcAft>
              <a:buChar char="•"/>
            </a:pPr>
            <a:r>
              <a:rPr sz="900" b="1" i="0">
                <a:solidFill>
                  <a:srgbClr val="0B1138"/>
                </a:solidFill>
              </a:rPr>
              <a:t>Automated data collection: </a:t>
            </a:r>
            <a:r>
              <a:rPr sz="900" b="0" i="0">
                <a:solidFill>
                  <a:srgbClr val="0B1138"/>
                </a:solidFill>
              </a:rPr>
              <a:t>one Submit → Google Sheet, analysis-ready tabs, Excel workbook emailed to the team</a:t>
            </a:r>
          </a:p>
          <a:p>
            <a:pPr algn="l" marL="164592" indent="-164592">
              <a:spcAft>
                <a:spcPts val="300"/>
              </a:spcAft>
              <a:buChar char="•"/>
            </a:pPr>
            <a:r>
              <a:rPr sz="900" b="1" i="0">
                <a:solidFill>
                  <a:srgbClr val="0B1138"/>
                </a:solidFill>
              </a:rPr>
              <a:t>Validated: </a:t>
            </a:r>
            <a:r>
              <a:rPr sz="900" b="0" i="0">
                <a:solidFill>
                  <a:srgbClr val="0B1138"/>
                </a:solidFill>
              </a:rPr>
              <a:t>canvas piloted with 50 AIM participants – praised for collaboration, guided brainstorming, clear steps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5897880"/>
            <a:ext cx="4800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92CA"/>
                </a:solidFill>
              </a:rPr>
              <a:t>diamondcao1996.github.io/SkillAIbility-WP3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6112" y="6263640"/>
            <a:ext cx="10351008" cy="301752"/>
          </a:xfrm>
          <a:prstGeom prst="roundRect">
            <a:avLst>
              <a:gd name="adj" fmla="val 30000"/>
            </a:avLst>
          </a:prstGeom>
          <a:solidFill>
            <a:srgbClr val="0B1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097280" y="6263640"/>
            <a:ext cx="99669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</a:rPr>
              <a:t>Next: </a:t>
            </a:r>
            <a:r>
              <a:rPr sz="950" b="0" i="0">
                <a:solidFill>
                  <a:srgbClr val="FFFFFF"/>
                </a:solidFill>
              </a:rPr>
              <a:t>Prysmian pilot validation (M26) → assessment tools and methodology in D3.2 (M30) → feeds the T3.4 maturity model and WP4 Learning Factory training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lorBlockVTI">
  <a:themeElements>
    <a:clrScheme name="Custom 5">
      <a:dk1>
        <a:srgbClr val="0B1138"/>
      </a:dk1>
      <a:lt1>
        <a:srgbClr val="F5F5F5"/>
      </a:lt1>
      <a:dk2>
        <a:srgbClr val="282C96"/>
      </a:dk2>
      <a:lt2>
        <a:srgbClr val="FFFFFF"/>
      </a:lt2>
      <a:accent1>
        <a:srgbClr val="09BDF0"/>
      </a:accent1>
      <a:accent2>
        <a:srgbClr val="E9FF70"/>
      </a:accent2>
      <a:accent3>
        <a:srgbClr val="E8C73D"/>
      </a:accent3>
      <a:accent4>
        <a:srgbClr val="0092CA"/>
      </a:accent4>
      <a:accent5>
        <a:srgbClr val="CFD1D1"/>
      </a:accent5>
      <a:accent6>
        <a:srgbClr val="FEFFFF"/>
      </a:accent6>
      <a:hlink>
        <a:srgbClr val="E7C83C"/>
      </a:hlink>
      <a:folHlink>
        <a:srgbClr val="E7C83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3A888E98-D8B2-534F-AD7A-C574855A23FA}" vid="{18DC21F4-4B07-ED43-9C04-BA0705402EA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8757C30-AE9A-4680-90EB-19D282EC2B7C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5CCB28C-7D26-4A36-9CFC-D739C28F3D1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AF0BF08-C674-44E3-8BFC-85BC65E095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1499</TotalTime>
  <Words>86</Words>
  <Application>Microsoft Office PowerPoint</Application>
  <PresentationFormat>Widescreen</PresentationFormat>
  <Paragraphs>52</Paragraphs>
  <Slides>13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4" baseType="lpstr">
      <vt:lpstr>ColorBlockVTI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Coffee Break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The Consortium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Paula Ando</dc:creator>
  <cp:lastModifiedBy>Paula Ando</cp:lastModifiedBy>
  <cp:revision>13</cp:revision>
  <dcterms:created xsi:type="dcterms:W3CDTF">2024-11-26T14:33:50Z</dcterms:created>
  <dcterms:modified xsi:type="dcterms:W3CDTF">2026-07-14T08:07:21Z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