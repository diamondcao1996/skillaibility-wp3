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276" r:id="rId17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68CB0E-A9EC-87E6-A4BB-62CFFCD74A79}" name="Valentin Popescu" initials="VP" userId="S::valentin.popescu@martel-innovate.com::7324448c-b78d-4655-a593-749ee261be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BE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2AC94-4C5A-9AB4-4FFF-524315335DB3}" v="2" dt="2026-07-14T08:07:21.439"/>
  </p1510:revLst>
</p1510:revInfo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658" autoAdjust="0"/>
  </p:normalViewPr>
  <p:slideViewPr>
    <p:cSldViewPr snapToGrid="0">
      <p:cViewPr varScale="1">
        <p:scale>
          <a:sx n="107" d="100"/>
          <a:sy n="107" d="100"/>
        </p:scale>
        <p:origin x="176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5/10/relationships/revisionInfo" Target="revisionInfo.xml"/><Relationship Id="rId25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C026C9-4C52-4B60-A858-A50E4BE56D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60113-35DB-4BB4-9269-631D6FEB5E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1B07DD3-8E0C-4A50-B5FE-ABD362AD454B}" type="datetime1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0E5BB-A291-4B94-8433-B9D3F16854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7D678-038E-42A6-961E-EAB034DB47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DE7DFA-63CC-4ED7-B30E-ACF88B4B89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0912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CED090A-610C-4D83-921E-93394EF804D0}" type="datetime1">
              <a:rPr lang="en-GB" noProof="0" smtClean="0"/>
              <a:t>17/09/2026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8C5307-140F-447F-BCBA-BB92E3A2906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331543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98C5307-140F-447F-BCBA-BB92E3A2906B}" type="slidenum">
              <a:rPr lang="en-GB" noProof="0" smtClean="0"/>
              <a:t>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51943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8C5307-140F-447F-BCBA-BB92E3A2906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0721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emf"/><Relationship Id="rId6" Type="http://schemas.openxmlformats.org/officeDocument/2006/relationships/image" Target="../media/image6.svg"/><Relationship Id="rId7" Type="http://schemas.openxmlformats.org/officeDocument/2006/relationships/image" Target="../media/image7.svg"/><Relationship Id="rId8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1s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4A2449-2017-6A8D-2D9D-48AD3D6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9016" y="0"/>
            <a:ext cx="4082983" cy="6858000"/>
          </a:xfrm>
          <a:prstGeom prst="rect">
            <a:avLst/>
          </a:prstGeom>
          <a:gradFill flip="none" rotWithShape="1">
            <a:gsLst>
              <a:gs pos="51000">
                <a:srgbClr val="214EAB"/>
              </a:gs>
              <a:gs pos="0">
                <a:schemeClr val="accent1"/>
              </a:gs>
              <a:gs pos="33000">
                <a:srgbClr val="1879C6"/>
              </a:gs>
              <a:gs pos="79000">
                <a:schemeClr val="tx2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44A184-010C-483F-8B5A-3D1E7E6EF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0"/>
            <a:ext cx="81153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82A2E2-E6DD-4321-B03A-F6C071C1B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44" y="2206596"/>
            <a:ext cx="6815446" cy="1464542"/>
          </a:xfrm>
        </p:spPr>
        <p:txBody>
          <a:bodyPr rtlCol="0" anchor="t">
            <a:normAutofit/>
          </a:bodyPr>
          <a:lstStyle>
            <a:lvl1pPr>
              <a:defRPr sz="4800"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38823550-6B12-4BFD-9C91-668B623E353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09017" y="0"/>
            <a:ext cx="4082983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 dirty="0"/>
              <a:t>Click to add photo</a:t>
            </a: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E9C6A08-7CCF-F23D-34C4-637EC0D44C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659" y="5884014"/>
            <a:ext cx="2603264" cy="658752"/>
          </a:xfrm>
          <a:prstGeom prst="rect">
            <a:avLst/>
          </a:prstGeom>
        </p:spPr>
      </p:pic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D3A9F8E-98E0-419C-6FDF-21FAB8C57F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44" y="6104894"/>
            <a:ext cx="1970418" cy="4378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E4F63D-53DE-B1D4-2EEA-85FF5ADA414B}"/>
              </a:ext>
            </a:extLst>
          </p:cNvPr>
          <p:cNvSpPr txBox="1"/>
          <p:nvPr userDrawn="1"/>
        </p:nvSpPr>
        <p:spPr>
          <a:xfrm>
            <a:off x="6311120" y="6142656"/>
            <a:ext cx="1128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0" spc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</a:rPr>
              <a:t>Grant Agreement </a:t>
            </a:r>
          </a:p>
          <a:p>
            <a:pPr algn="r"/>
            <a:r>
              <a:rPr lang="en-US" sz="1000" b="0" spc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</a:rPr>
              <a:t>No </a:t>
            </a:r>
            <a:r>
              <a:rPr lang="en-US" sz="1000" b="0" i="0" spc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</a:rPr>
              <a:t>101177783</a:t>
            </a:r>
            <a:endParaRPr lang="en-ID" sz="1000" b="0" spc="0" dirty="0">
              <a:solidFill>
                <a:schemeClr val="bg1"/>
              </a:solidFill>
              <a:latin typeface="+mn-lt"/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77C22C-83A1-7F95-3C3F-E9FBFD28D8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49044" y="315234"/>
            <a:ext cx="1674432" cy="579862"/>
          </a:xfrm>
          <a:prstGeom prst="rect">
            <a:avLst/>
          </a:prstGeom>
        </p:spPr>
      </p:pic>
      <p:sp>
        <p:nvSpPr>
          <p:cNvPr id="2" name="Rectangle: Rounded Corners 17">
            <a:extLst>
              <a:ext uri="{FF2B5EF4-FFF2-40B4-BE49-F238E27FC236}">
                <a16:creationId xmlns:a16="http://schemas.microsoft.com/office/drawing/2014/main" id="{746A1399-35CE-B365-799A-182B63F0A746}"/>
              </a:ext>
            </a:extLst>
          </p:cNvPr>
          <p:cNvSpPr/>
          <p:nvPr userDrawn="1"/>
        </p:nvSpPr>
        <p:spPr>
          <a:xfrm>
            <a:off x="624749" y="4343926"/>
            <a:ext cx="6815137" cy="1111250"/>
          </a:xfrm>
          <a:prstGeom prst="roundRect">
            <a:avLst>
              <a:gd name="adj" fmla="val 4982"/>
            </a:avLst>
          </a:prstGeom>
          <a:noFill/>
          <a:ln w="12700" cap="rnd">
            <a:solidFill>
              <a:schemeClr val="bg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lnSpc>
                <a:spcPct val="150000"/>
              </a:lnSpc>
            </a:pPr>
            <a:endParaRPr lang="en-US" sz="1400" b="1" dirty="0">
              <a:solidFill>
                <a:schemeClr val="bg1"/>
              </a:solidFill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260127C-3E5F-7691-5752-668D349A13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044" y="4415256"/>
            <a:ext cx="3302067" cy="437873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CH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A5CD74B5-9307-54F9-20E6-3369A18612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37973" y="4415256"/>
            <a:ext cx="3302068" cy="437873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CH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3A3DA83-14C4-D736-7710-890E1DF2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9044" y="4934545"/>
            <a:ext cx="3302067" cy="437873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CH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4BAA726-5AB5-4168-9430-CA4D28B4AA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37973" y="4934545"/>
            <a:ext cx="3302068" cy="437873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Agenda_2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ACCBA8-1905-3646-BDBD-B9A3B5A84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-19050" y="-2"/>
            <a:ext cx="4095750" cy="6594477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B1A8891C-A2D4-4238-ABCE-62AB3A9121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-1"/>
            <a:ext cx="4076701" cy="6594476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 dirty="0"/>
              <a:t>Click to add photo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2AAFDE-CB45-46CA-8961-8133FCA5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76700" y="0"/>
            <a:ext cx="8115300" cy="37320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09C30D-AB58-482B-B553-F7136709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4100" y="895096"/>
            <a:ext cx="6599238" cy="2533905"/>
          </a:xfrm>
        </p:spPr>
        <p:txBody>
          <a:bodyPr rtlCol="0" anchor="b"/>
          <a:lstStyle>
            <a:lvl1pPr>
              <a:defRPr spc="-2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 dirty="0">
                <a:solidFill>
                  <a:srgbClr val="FFFFFF"/>
                </a:solidFill>
              </a:rPr>
              <a:t>Click to edit Master title style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DFCFAED4-0A56-424D-BF74-4051B0BDA9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64100" y="3841750"/>
            <a:ext cx="6599238" cy="2296083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 rtl="0"/>
            <a:r>
              <a:rPr lang="en-GB" noProof="0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80AE63-E486-0016-CFEC-7B52E5CE0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86931" y="307375"/>
            <a:ext cx="419537" cy="53571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0F7FA-9F73-1FBD-E9B1-F8F3845347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219E-9C4A-24AE-DA36-1D9C2A7D86A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696C6-8005-4C18-9CE4-A64FC9C12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‹#›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CA8135-FEFE-2118-4B51-17D230EE68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9410" y="1695450"/>
            <a:ext cx="10599863" cy="43307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D9ACF1A-BF50-47C5-11EB-FD6DEC7D93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7B9C6-A249-78CA-4AF3-25B8FE804FA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08E7EF-7228-AEBB-F8A6-6E2232EF8CB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1A18A-3D46-E5C2-1949-06423721E9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‹#›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_tex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89C723-553D-F7C6-EFC4-63A607CE29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99410" y="0"/>
            <a:ext cx="10301990" cy="1150467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484230F0-1F95-BC39-CFA9-F2F5C11E86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409" y="1454672"/>
            <a:ext cx="10476967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1CB76CB-933C-4912-4DA5-20F69FDCB8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9409" y="2052276"/>
            <a:ext cx="10476967" cy="4101813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</a:lstStyle>
          <a:p>
            <a:pPr lvl="0" rtl="0"/>
            <a:r>
              <a:rPr lang="en-GB" noProof="0" dirty="0"/>
              <a:t>Click to add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61A013-90C4-43D0-C3BB-0DAD87E315F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D1581-4F36-7BC2-A83D-EDC58BC962D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C80D9-5F55-2449-4F5F-95D8617F43C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‹#›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ffee_brea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C8F438-3E6B-2F9C-03D9-B86145D37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9050" y="-2"/>
            <a:ext cx="12211050" cy="6858002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6" name="Picture 5" descr="A blue and white wavy lines&#10;&#10;Description automatically generated">
            <a:extLst>
              <a:ext uri="{FF2B5EF4-FFF2-40B4-BE49-F238E27FC236}">
                <a16:creationId xmlns:a16="http://schemas.microsoft.com/office/drawing/2014/main" id="{EE60AC8E-0A5F-DF7F-F887-41649EF2B4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>
            <a:off x="-19055" y="0"/>
            <a:ext cx="12211051" cy="68659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28284B-979A-1CA9-1007-B95F7A329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241962" y="0"/>
            <a:ext cx="8950038" cy="53755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81B040C-8943-4433-BFE9-AFB1F7C9ED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3241963" y="-2"/>
            <a:ext cx="8950036" cy="4100947"/>
          </a:xfrm>
          <a:noFill/>
        </p:spPr>
        <p:txBody>
          <a:bodyPr rIns="731520" rtlCol="0" anchor="b">
            <a:normAutofit/>
          </a:bodyPr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pPr algn="r" rtl="0"/>
            <a:r>
              <a:rPr lang="en-GB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41A6711-44B3-4723-90E5-802B2DBD86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3241963" y="4089656"/>
            <a:ext cx="8950035" cy="1285908"/>
          </a:xfrm>
          <a:noFill/>
        </p:spPr>
        <p:txBody>
          <a:bodyPr tIns="36000" rIns="731520" rtlCol="0" anchor="t">
            <a:normAutofit/>
          </a:bodyPr>
          <a:lstStyle>
            <a:lvl1pPr marL="0" indent="0" algn="r">
              <a:buNone/>
              <a:defRPr sz="2800" b="1" baseline="0">
                <a:solidFill>
                  <a:schemeClr val="bg1"/>
                </a:solidFill>
              </a:defRPr>
            </a:lvl1pPr>
          </a:lstStyle>
          <a:p>
            <a:pPr algn="r" rtl="0"/>
            <a:r>
              <a:rPr lang="en-GB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Click to edit Master subtitle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E52C2-9F43-590F-3DD7-34898044CC0E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11486931" y="307375"/>
            <a:ext cx="419537" cy="53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C5A662A-E279-494E-8389-ADC6E870E38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31863" y="1695450"/>
            <a:ext cx="10328275" cy="4314825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69333A-875E-920E-74DE-11D1C10097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C4DEA-A4DC-2ABF-4A4B-88088561BD2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F4DFFC-31A9-0A00-9673-B9308454CF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0AAC5-BCB0-83ED-0C47-B9D60D3DA3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‹#›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6E7A1B-5E12-1C4A-9EB8-B6752417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201400" y="-1"/>
            <a:ext cx="990601" cy="6858001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578F2-1077-CD2D-C3DD-926580EAA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1150466"/>
            <a:ext cx="12192001" cy="57075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`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883BF-DD21-96C8-69E2-8F1DB97ACC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86931" y="307375"/>
            <a:ext cx="419537" cy="53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9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EBE25CB7-5E8A-1D04-2787-F48FACE3851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899409" y="1514475"/>
            <a:ext cx="10301990" cy="45418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CH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889C723-553D-F7C6-EFC4-63A607CE29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99410" y="0"/>
            <a:ext cx="10301990" cy="1150467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EE6D64-BCD9-3BE1-ADD7-9D040391C09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9D11D-E6D0-40A2-F69F-4C918381F1E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92804-7E27-7D4B-4F3E-F27F0239D6F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‹#›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507858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7F0BA818-CA3B-46FD-9A79-7BDC1D9CA7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9410" y="1764139"/>
            <a:ext cx="5066547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4EAD007E-B9BB-4C9F-BDC8-127A77F0F9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9410" y="2374900"/>
            <a:ext cx="5066547" cy="33655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9ECBA1DE-781A-4AA7-86CA-0EBE52A9B4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7467" y="1764031"/>
            <a:ext cx="4943934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53A9CA10-3BBC-41E7-A34E-C6CCFEC820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7467" y="2374900"/>
            <a:ext cx="4943934" cy="3365500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2A65D5D-26BC-FF77-0D4E-5459BC1A60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0CE80-5A2B-4CA3-65C5-4C6CDB89DB0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02EED-80B5-3FD5-F676-35188B7B020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57548-E074-68CB-2906-48AB04CB88A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‹#›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F4C4703-C9D4-483C-8E41-17BB7193D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1300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7393281D-B77A-4BB8-A3E2-49E0F1259D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1193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B205DED-723B-48E3-AE9F-556696225C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2317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77D63D24-8466-44F3-898F-5CBC42C768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2317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F600D1D1-B6A8-4A4E-BC6A-897FE089CB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5393" y="1764193"/>
            <a:ext cx="3327366" cy="5976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en-GB" noProof="0" dirty="0"/>
              <a:t>Click to add subtitle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205F643-67E9-4E41-A65F-163C81609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25393" y="2374899"/>
            <a:ext cx="3327366" cy="3485573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58190A80-63FF-AE9B-6C05-FE09D40091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5648B4-D67E-F0D4-7FD8-051AE72B416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0EEDCB-2E2F-9E90-5257-5B4ACA7986F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C5185-674D-A34E-0E99-C40A43673A5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‹#›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7393281D-B77A-4BB8-A3E2-49E0F1259D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8634" y="1556946"/>
            <a:ext cx="8597358" cy="1150467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F591A58-D306-CCD0-1D99-85E6F99CA9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68634" y="3106932"/>
            <a:ext cx="8597358" cy="1150467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86293C9-632A-FC33-2549-0D1CC99656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68634" y="4648583"/>
            <a:ext cx="8597358" cy="1150467"/>
          </a:xfrm>
        </p:spPr>
        <p:txBody>
          <a:bodyPr rtlCol="0">
            <a:normAutofit/>
          </a:bodyPr>
          <a:lstStyle>
            <a:lvl1pPr>
              <a:defRPr sz="2000"/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E7BB919E-D312-30BE-F57C-9FB2739524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99410" y="0"/>
            <a:ext cx="10466582" cy="1150467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688E89E-7CF7-606A-891C-3048B73B37F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26008" y="3106656"/>
            <a:ext cx="1812417" cy="1151019"/>
          </a:xfrm>
        </p:spPr>
        <p:txBody>
          <a:bodyPr/>
          <a:lstStyle/>
          <a:p>
            <a:endParaRPr lang="en-CH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27107B8-0400-5214-D8F4-BA4B9128BE8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26008" y="4648307"/>
            <a:ext cx="1812417" cy="1151019"/>
          </a:xfrm>
        </p:spPr>
        <p:txBody>
          <a:bodyPr/>
          <a:lstStyle/>
          <a:p>
            <a:endParaRPr lang="en-CH"/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F698F2DE-479B-37D7-2C3B-1808237BB54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6008" y="1556670"/>
            <a:ext cx="1812417" cy="1151019"/>
          </a:xfrm>
        </p:spPr>
        <p:txBody>
          <a:bodyPr/>
          <a:lstStyle/>
          <a:p>
            <a:endParaRPr lang="en-CH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2090E-F15D-6A0B-5D99-015E92919FD0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de-CH"/>
              <a:t>12.03.25</a:t>
            </a:r>
            <a:endParaRPr lang="en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2208D5-F801-301B-1F15-C31927EEBB9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it-IT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B72AD-3AB6-3D1C-BAF7-E1FFF040156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5F2F5E0-43A3-F04E-B91C-4A3B6806AA66}" type="slidenum">
              <a:rPr lang="en-CH" smtClean="0"/>
              <a:pPr/>
              <a:t>‹#›</a:t>
            </a:fld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837672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n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DA651E-10A2-1E37-0D21-2C9E485F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2AAFDE-CB45-46CA-8961-8133FCA5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0767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09C30D-AB58-482B-B553-F7136709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4" y="776941"/>
            <a:ext cx="3209008" cy="5166659"/>
          </a:xfrm>
        </p:spPr>
        <p:txBody>
          <a:bodyPr rtlCol="0" anchor="b"/>
          <a:lstStyle>
            <a:lvl1pPr>
              <a:defRPr spc="-20" baseline="0">
                <a:gradFill>
                  <a:gsLst>
                    <a:gs pos="77000">
                      <a:srgbClr val="000000">
                        <a:alpha val="30000"/>
                      </a:srgbClr>
                    </a:gs>
                    <a:gs pos="38000">
                      <a:srgbClr val="000000">
                        <a:alpha val="20000"/>
                      </a:srgbClr>
                    </a:gs>
                    <a:gs pos="0">
                      <a:srgbClr val="000000">
                        <a:alpha val="0"/>
                      </a:srgbClr>
                    </a:gs>
                    <a:gs pos="20000">
                      <a:srgbClr val="000000">
                        <a:alpha val="0"/>
                      </a:srgbClr>
                    </a:gs>
                    <a:gs pos="100000">
                      <a:srgbClr val="000000">
                        <a:alpha val="30000"/>
                      </a:srgbClr>
                    </a:gs>
                  </a:gsLst>
                  <a:lin ang="21594000" scaled="0"/>
                </a:gradFill>
              </a:defRPr>
            </a:lvl1pPr>
          </a:lstStyle>
          <a:p>
            <a:pPr rtl="0"/>
            <a:r>
              <a:rPr lang="en-GB" noProof="0" dirty="0">
                <a:solidFill>
                  <a:srgbClr val="FFFFFF"/>
                </a:solidFill>
              </a:rPr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C95968-63B0-D74D-BA80-F694B04D6A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9044" y="315234"/>
            <a:ext cx="1674432" cy="579862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0D00683-35EA-4494-6E4D-FF4477B226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46063" y="325394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ADABA5BF-2B01-DFEB-4EA7-9A206AE908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1218" y="325394"/>
            <a:ext cx="1355383" cy="1356659"/>
          </a:xfrm>
        </p:spPr>
        <p:txBody>
          <a:bodyPr/>
          <a:lstStyle/>
          <a:p>
            <a:endParaRPr lang="en-CH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9829AA5-BCCD-865F-A25E-485F4DEF80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56373" y="325394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F5CA8847-6142-5C77-E45E-BFE3BFD0C7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61527" y="325394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CB14B99-4D66-9FF3-D8DA-3B9F37BCF4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46063" y="1942245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7CA767B0-C4AF-7D6F-0FD7-64E7FA2ABB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1218" y="1942245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E6D7AAF0-DCEB-F27D-3566-E3096BDE161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56373" y="1924747"/>
            <a:ext cx="1355383" cy="1356659"/>
          </a:xfrm>
        </p:spPr>
        <p:txBody>
          <a:bodyPr/>
          <a:lstStyle/>
          <a:p>
            <a:endParaRPr lang="en-CH" dirty="0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DE6E010-C967-1806-8872-B7AE5B4190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1527" y="1924747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739B77A9-1BAD-88FA-B4A3-7B9FF13BC8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46063" y="3559096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FED4A0D2-ED9E-59A5-A849-195330E9B82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51218" y="3559096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768A8174-0993-7F1D-C394-ECD196076B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56373" y="3524100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D40200EB-D5A8-B0A3-B672-68D02DAF5E0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161527" y="3524100"/>
            <a:ext cx="1355383" cy="1356659"/>
          </a:xfrm>
        </p:spPr>
        <p:txBody>
          <a:bodyPr/>
          <a:lstStyle/>
          <a:p>
            <a:endParaRPr lang="en-CH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6DF71A80-B797-BAF0-1309-411C21F5C7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46063" y="5175947"/>
            <a:ext cx="1355383" cy="1356659"/>
          </a:xfrm>
        </p:spPr>
        <p:txBody>
          <a:bodyPr/>
          <a:lstStyle/>
          <a:p>
            <a:endParaRPr lang="en-CH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27C31B56-A882-0753-96F7-745ACABF83D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51218" y="5175947"/>
            <a:ext cx="1355383" cy="1356659"/>
          </a:xfrm>
        </p:spPr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6461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7480B2-6041-B501-8C1A-2A91734E2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CAB4C3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2" name="Picture 1" descr="A blue and white wavy lines&#10;&#10;Description automatically generated">
            <a:extLst>
              <a:ext uri="{FF2B5EF4-FFF2-40B4-BE49-F238E27FC236}">
                <a16:creationId xmlns:a16="http://schemas.microsoft.com/office/drawing/2014/main" id="{E6879CF0-6D78-D2F3-B09D-D5632CF37D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>
            <a:off x="-19055" y="0"/>
            <a:ext cx="12211051" cy="6865938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EB35A47-5CB7-6476-92AD-6A7E66AA1E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7930" y="397838"/>
            <a:ext cx="10976141" cy="6062325"/>
          </a:xfrm>
          <a:prstGeom prst="roundRect">
            <a:avLst>
              <a:gd name="adj" fmla="val 373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557B6-0574-39E2-7800-6CBC7EC1BA4B}"/>
              </a:ext>
            </a:extLst>
          </p:cNvPr>
          <p:cNvSpPr txBox="1"/>
          <p:nvPr userDrawn="1"/>
        </p:nvSpPr>
        <p:spPr>
          <a:xfrm>
            <a:off x="2450344" y="1975447"/>
            <a:ext cx="72913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23F50A-2A3B-6DE9-42DA-0924848AD48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303259" y="4065068"/>
            <a:ext cx="958547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Arial" panose="020B0604020202020204" pitchFamily="34" charset="0"/>
              </a:rPr>
              <a:t>GET IN TOUCH</a:t>
            </a:r>
          </a:p>
        </p:txBody>
      </p:sp>
      <p:sp>
        <p:nvSpPr>
          <p:cNvPr id="28" name="Google Shape;231;p15">
            <a:extLst>
              <a:ext uri="{FF2B5EF4-FFF2-40B4-BE49-F238E27FC236}">
                <a16:creationId xmlns:a16="http://schemas.microsoft.com/office/drawing/2014/main" id="{90488E25-7C62-FF5A-ED38-8456ECFA9418}"/>
              </a:ext>
            </a:extLst>
          </p:cNvPr>
          <p:cNvSpPr txBox="1"/>
          <p:nvPr userDrawn="1"/>
        </p:nvSpPr>
        <p:spPr>
          <a:xfrm>
            <a:off x="7355159" y="5586423"/>
            <a:ext cx="407845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900" b="0" i="0" u="none" strike="noStrike" cap="none" spc="50" baseline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  <a:sym typeface="Montserrat"/>
              </a:rPr>
              <a:t>The SkillAIbility project received funding from the European Union's Horizon Europe Research and Innovation Programme under Grant Agreement No </a:t>
            </a:r>
            <a:r>
              <a:rPr lang="en-US" sz="900" b="0" i="0" spc="50" baseline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</a:rPr>
              <a:t>101177783. </a:t>
            </a:r>
            <a:r>
              <a:rPr lang="en-GB" sz="900" b="0" i="0" u="none" strike="noStrike" cap="none" spc="50" baseline="0" dirty="0">
                <a:solidFill>
                  <a:schemeClr val="bg1"/>
                </a:solidFill>
                <a:latin typeface="+mn-lt"/>
                <a:ea typeface="Source Code Pro" panose="020B0509030403020204" pitchFamily="49" charset="0"/>
                <a:cs typeface="Consolas" panose="020B0609020204030204" pitchFamily="49" charset="0"/>
                <a:sym typeface="Montserrat"/>
              </a:rPr>
              <a:t>This work has received funding from the Swiss State Secretariat for Education, Research and Innovation (SERI).</a:t>
            </a:r>
            <a:endParaRPr sz="900" b="0" i="0" u="none" strike="noStrike" cap="none" spc="50" baseline="0" dirty="0">
              <a:solidFill>
                <a:schemeClr val="bg1"/>
              </a:solidFill>
              <a:latin typeface="+mn-lt"/>
              <a:ea typeface="Source Code Pro" panose="020B0509030403020204" pitchFamily="49" charset="0"/>
              <a:cs typeface="Consolas" panose="020B0609020204030204" pitchFamily="49" charset="0"/>
              <a:sym typeface="Montserrat"/>
            </a:endParaRPr>
          </a:p>
        </p:txBody>
      </p:sp>
      <p:pic>
        <p:nvPicPr>
          <p:cNvPr id="29" name="Picture 2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B67B540-47B4-C3A2-91B8-051230F083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60" y="5706983"/>
            <a:ext cx="1823264" cy="405170"/>
          </a:xfrm>
          <a:prstGeom prst="rect">
            <a:avLst/>
          </a:prstGeom>
        </p:spPr>
      </p:pic>
      <p:pic>
        <p:nvPicPr>
          <p:cNvPr id="30" name="Picture 2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577EE62-81D2-2C50-3652-E164F475D3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050" y="5577507"/>
            <a:ext cx="2624483" cy="66412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4386AAC-1341-6763-8E34-C8AD73B2554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58782" y="784434"/>
            <a:ext cx="1674432" cy="57986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66E4528-A728-EAC0-F690-C76F0D788060}"/>
              </a:ext>
            </a:extLst>
          </p:cNvPr>
          <p:cNvGrpSpPr/>
          <p:nvPr userDrawn="1"/>
        </p:nvGrpSpPr>
        <p:grpSpPr>
          <a:xfrm>
            <a:off x="2116652" y="4627613"/>
            <a:ext cx="7958696" cy="395189"/>
            <a:chOff x="2470640" y="4627613"/>
            <a:chExt cx="7958696" cy="39518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1DF975B-7DC9-D6A9-E30A-CCE1599F6AA2}"/>
                </a:ext>
              </a:extLst>
            </p:cNvPr>
            <p:cNvGrpSpPr/>
            <p:nvPr userDrawn="1"/>
          </p:nvGrpSpPr>
          <p:grpSpPr>
            <a:xfrm>
              <a:off x="5640960" y="4627613"/>
              <a:ext cx="1950158" cy="395189"/>
              <a:chOff x="5613664" y="4627613"/>
              <a:chExt cx="1950158" cy="395189"/>
            </a:xfrm>
          </p:grpSpPr>
          <p:sp>
            <p:nvSpPr>
              <p:cNvPr id="25" name="Rectangle: Rounded Corners 12">
                <a:extLst>
                  <a:ext uri="{FF2B5EF4-FFF2-40B4-BE49-F238E27FC236}">
                    <a16:creationId xmlns:a16="http://schemas.microsoft.com/office/drawing/2014/main" id="{9FD0330F-FC9F-1B33-8171-DFB93492651D}"/>
                  </a:ext>
                </a:extLst>
              </p:cNvPr>
              <p:cNvSpPr/>
              <p:nvPr/>
            </p:nvSpPr>
            <p:spPr>
              <a:xfrm>
                <a:off x="5613664" y="4627613"/>
                <a:ext cx="395189" cy="395189"/>
              </a:xfrm>
              <a:prstGeom prst="roundRect">
                <a:avLst/>
              </a:prstGeom>
              <a:gradFill flip="none" rotWithShape="1">
                <a:gsLst>
                  <a:gs pos="0">
                    <a:srgbClr val="09BEF1"/>
                  </a:gs>
                  <a:gs pos="42000">
                    <a:schemeClr val="tx2"/>
                  </a:gs>
                </a:gsLst>
                <a:lin ang="18900000" scaled="1"/>
                <a:tileRect/>
              </a:gradFill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052D85-C218-685F-C1F0-479EE7CAACF2}"/>
                  </a:ext>
                </a:extLst>
              </p:cNvPr>
              <p:cNvSpPr txBox="1"/>
              <p:nvPr/>
            </p:nvSpPr>
            <p:spPr>
              <a:xfrm>
                <a:off x="6043906" y="4686707"/>
                <a:ext cx="15199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spc="0" dirty="0">
                    <a:solidFill>
                      <a:schemeClr val="bg1"/>
                    </a:solidFill>
                    <a:latin typeface="+mn-lt"/>
                    <a:ea typeface="Source Code Pro" panose="020B0509030403020204" pitchFamily="49" charset="0"/>
                    <a:cs typeface="Consolas" panose="020B0609020204030204" pitchFamily="49" charset="0"/>
                  </a:rPr>
                  <a:t>SKILLAIBILITY.EU</a:t>
                </a:r>
              </a:p>
            </p:txBody>
          </p:sp>
          <p:pic>
            <p:nvPicPr>
              <p:cNvPr id="27" name="Graphic 26">
                <a:extLst>
                  <a:ext uri="{FF2B5EF4-FFF2-40B4-BE49-F238E27FC236}">
                    <a16:creationId xmlns:a16="http://schemas.microsoft.com/office/drawing/2014/main" id="{C614B742-9AC4-40C5-FFE0-72F28556CD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668718" y="4682667"/>
                <a:ext cx="285080" cy="285080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1EB549A-1743-4EE9-57FF-0F7A5167E441}"/>
                </a:ext>
              </a:extLst>
            </p:cNvPr>
            <p:cNvGrpSpPr/>
            <p:nvPr/>
          </p:nvGrpSpPr>
          <p:grpSpPr>
            <a:xfrm>
              <a:off x="2470640" y="4627613"/>
              <a:ext cx="2595047" cy="395189"/>
              <a:chOff x="1940377" y="4484340"/>
              <a:chExt cx="2595047" cy="395189"/>
            </a:xfrm>
          </p:grpSpPr>
          <p:sp>
            <p:nvSpPr>
              <p:cNvPr id="21" name="Rectangle: Rounded Corners 10">
                <a:extLst>
                  <a:ext uri="{FF2B5EF4-FFF2-40B4-BE49-F238E27FC236}">
                    <a16:creationId xmlns:a16="http://schemas.microsoft.com/office/drawing/2014/main" id="{4064A11A-79BB-EC07-C480-D508021F54EC}"/>
                  </a:ext>
                </a:extLst>
              </p:cNvPr>
              <p:cNvSpPr/>
              <p:nvPr/>
            </p:nvSpPr>
            <p:spPr>
              <a:xfrm>
                <a:off x="1940377" y="4484340"/>
                <a:ext cx="395189" cy="395189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43000">
                    <a:schemeClr val="tx2"/>
                  </a:gs>
                </a:gsLst>
                <a:lin ang="18900000" scaled="1"/>
                <a:tileRect/>
              </a:gradFill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695CA7-095E-5D77-C0F2-B5B015794CFB}"/>
                  </a:ext>
                </a:extLst>
              </p:cNvPr>
              <p:cNvSpPr txBox="1"/>
              <p:nvPr/>
            </p:nvSpPr>
            <p:spPr>
              <a:xfrm>
                <a:off x="2350836" y="4543435"/>
                <a:ext cx="21845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spc="0" dirty="0">
                    <a:solidFill>
                      <a:schemeClr val="bg1"/>
                    </a:solidFill>
                    <a:latin typeface="+mn-lt"/>
                    <a:ea typeface="Source Code Pro" panose="020B0509030403020204" pitchFamily="49" charset="0"/>
                    <a:cs typeface="Consolas" panose="020B0609020204030204" pitchFamily="49" charset="0"/>
                  </a:rPr>
                  <a:t>INFO@SKILLAIBILITY.EU</a:t>
                </a:r>
              </a:p>
            </p:txBody>
          </p:sp>
          <p:pic>
            <p:nvPicPr>
              <p:cNvPr id="24" name="Graphic 23">
                <a:extLst>
                  <a:ext uri="{FF2B5EF4-FFF2-40B4-BE49-F238E27FC236}">
                    <a16:creationId xmlns:a16="http://schemas.microsoft.com/office/drawing/2014/main" id="{37B4F733-8195-EA6E-4349-8496B9E6AD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006122" y="4543434"/>
                <a:ext cx="276999" cy="276999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62A46AF-48E1-3ED0-7730-6BDBEEF2F240}"/>
                </a:ext>
              </a:extLst>
            </p:cNvPr>
            <p:cNvGrpSpPr/>
            <p:nvPr userDrawn="1"/>
          </p:nvGrpSpPr>
          <p:grpSpPr>
            <a:xfrm>
              <a:off x="8166391" y="4627613"/>
              <a:ext cx="2262945" cy="395189"/>
              <a:chOff x="8166391" y="4627613"/>
              <a:chExt cx="2262945" cy="395189"/>
            </a:xfrm>
          </p:grpSpPr>
          <p:sp>
            <p:nvSpPr>
              <p:cNvPr id="17" name="Rectangle: Rounded Corners 14">
                <a:extLst>
                  <a:ext uri="{FF2B5EF4-FFF2-40B4-BE49-F238E27FC236}">
                    <a16:creationId xmlns:a16="http://schemas.microsoft.com/office/drawing/2014/main" id="{6A35DB2F-CBAF-AD8D-E1A2-5CA259992180}"/>
                  </a:ext>
                </a:extLst>
              </p:cNvPr>
              <p:cNvSpPr/>
              <p:nvPr/>
            </p:nvSpPr>
            <p:spPr>
              <a:xfrm>
                <a:off x="8166391" y="4627613"/>
                <a:ext cx="395189" cy="395189"/>
              </a:xfrm>
              <a:prstGeom prst="roundRect">
                <a:avLst/>
              </a:prstGeom>
              <a:gradFill flip="none" rotWithShape="1">
                <a:gsLst>
                  <a:gs pos="57000">
                    <a:schemeClr val="tx2"/>
                  </a:gs>
                  <a:gs pos="100000">
                    <a:srgbClr val="09BEF1"/>
                  </a:gs>
                </a:gsLst>
                <a:lin ang="8100000" scaled="1"/>
                <a:tileRect/>
              </a:gradFill>
              <a:ln w="12700" cap="rnd">
                <a:noFill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12B4886-37A9-0E8E-09FE-A1B5C4038AF2}"/>
                  </a:ext>
                </a:extLst>
              </p:cNvPr>
              <p:cNvSpPr txBox="1"/>
              <p:nvPr/>
            </p:nvSpPr>
            <p:spPr>
              <a:xfrm>
                <a:off x="8592505" y="4686708"/>
                <a:ext cx="1836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spc="0" dirty="0">
                    <a:solidFill>
                      <a:schemeClr val="bg1"/>
                    </a:solidFill>
                    <a:latin typeface="+mn-lt"/>
                    <a:ea typeface="Source Code Pro" panose="020B0509030403020204" pitchFamily="49" charset="0"/>
                    <a:cs typeface="Consolas" panose="020B0609020204030204" pitchFamily="49" charset="0"/>
                  </a:rPr>
                  <a:t>COMPANY/SKILLAIBILITY</a:t>
                </a:r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E99538A-CDFE-2311-A855-85079349685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8211905" y="4673126"/>
                <a:ext cx="304159" cy="30415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346769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B4702B-D08D-D154-0D5D-BAAC2A971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98269"/>
            <a:ext cx="12192000" cy="2856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www.skillaibility.eu</a:t>
            </a:r>
            <a:endParaRPr kumimoji="0" lang="en-GB" sz="1000" b="0" i="0" u="none" strike="noStrike" kern="1200" cap="none" spc="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4F28F-6780-637F-B3B8-BAF6C17D8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150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530C2C-5DF3-EEAB-5285-40F654D7D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201400" y="-1"/>
            <a:ext cx="990601" cy="6858001"/>
          </a:xfrm>
          <a:prstGeom prst="rect">
            <a:avLst/>
          </a:prstGeom>
          <a:gradFill>
            <a:gsLst>
              <a:gs pos="72000">
                <a:srgbClr val="177BC7"/>
              </a:gs>
              <a:gs pos="35000">
                <a:schemeClr val="tx1">
                  <a:lumMod val="75000"/>
                  <a:lumOff val="25000"/>
                </a:schemeClr>
              </a:gs>
              <a:gs pos="93000">
                <a:srgbClr val="09BEF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D4567B-87A4-A0DD-FEA0-A8D02C65A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1150466"/>
            <a:ext cx="12192001" cy="5451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`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99410" y="0"/>
            <a:ext cx="10301990" cy="11504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9408" y="1484026"/>
            <a:ext cx="10301991" cy="4697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2EA6E-F66C-9E3D-ADB2-CC7D722322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-1" y="6619804"/>
            <a:ext cx="3849511" cy="246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spc="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>
                <a:ea typeface="Source Code Pro" panose="020B0509030403020204" pitchFamily="49" charset="0"/>
                <a:cs typeface="Consolas" panose="020B0609020204030204" pitchFamily="49" charset="0"/>
                <a:sym typeface="Arial"/>
              </a:rPr>
              <a:t>© Copyright SkillAIbility 2024-2027</a:t>
            </a:r>
            <a:endParaRPr lang="it-IT" dirty="0">
              <a:ea typeface="Source Code Pro" panose="020B050903040302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FD100-B616-2C5E-477A-504FBD1188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201399" y="6619804"/>
            <a:ext cx="990601" cy="246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0">
                <a:solidFill>
                  <a:schemeClr val="bg1"/>
                </a:solidFill>
              </a:defRPr>
            </a:lvl1pPr>
          </a:lstStyle>
          <a:p>
            <a:fld id="{45F2F5E0-43A3-F04E-B91C-4A3B6806AA66}" type="slidenum">
              <a:rPr lang="en-CH" smtClean="0"/>
              <a:pPr/>
              <a:t>‹#›</a:t>
            </a:fld>
            <a:endParaRPr lang="en-CH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ABEF6A9-C624-97EB-F683-212F325A6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8820" y="6623735"/>
            <a:ext cx="1292578" cy="242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12.03.25</a:t>
            </a:r>
            <a:endParaRPr lang="en-C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7A1072-FC83-334F-65D3-CB4868DB5B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486931" y="307375"/>
            <a:ext cx="419537" cy="53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7" r:id="rId4"/>
    <p:sldLayoutId id="2147483655" r:id="rId5"/>
    <p:sldLayoutId id="2147483656" r:id="rId6"/>
    <p:sldLayoutId id="2147483689" r:id="rId7"/>
    <p:sldLayoutId id="2147483688" r:id="rId8"/>
    <p:sldLayoutId id="2147483658" r:id="rId9"/>
    <p:sldLayoutId id="2147483659" r:id="rId10"/>
    <p:sldLayoutId id="2147483686" r:id="rId11"/>
    <p:sldLayoutId id="2147483687" r:id="rId12"/>
    <p:sldLayoutId id="2147483685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kern="1200" spc="-4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tx1"/>
        </a:buClr>
        <a:buFontTx/>
        <a:buNone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Tx/>
        <a:buNone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Tx/>
        <a:buNone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Tx/>
        <a:buNone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Tx/>
        <a:buNone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BCC9-278E-09CC-3F91-7E8023ECC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WP3 Workshop procedure</a:t>
            </a:r>
          </a:p>
        </p:txBody>
      </p:sp>
      <p:pic>
        <p:nvPicPr>
          <p:cNvPr id="9" name="Picture Placeholder 8" descr="A blue and white wavy lines&#10;&#10;Description automatically generated">
            <a:extLst>
              <a:ext uri="{FF2B5EF4-FFF2-40B4-BE49-F238E27FC236}">
                <a16:creationId xmlns:a16="http://schemas.microsoft.com/office/drawing/2014/main" id="{8566924B-6F0E-C4B6-5B78-8DEF79676C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50000"/>
          </a:blip>
          <a:srcRect l="30249" r="3024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EA694-249C-3EB5-A9A1-CDC7E16AAC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Interactive workshop toolkit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5EAC73-9CC9-BAEE-7A95-0AF841ADC4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Grouping · guided steps · results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4CC87-5DCE-4026-B730-D60EFB49DD7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diamondcao1996.github.io/SkillAIbility-WP3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9D9B3C-9EF9-F23C-88AF-3D17B8186DC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396397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interconnected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526B"/>
                </a:solidFill>
              </a:rPr>
              <a:t>Everything runs in the browser – no login, no install. One device per group; the tools share their data on that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828800"/>
            <a:ext cx="3291840" cy="2971800"/>
          </a:xfrm>
          <a:prstGeom prst="roundRect">
            <a:avLst>
              <a:gd name="adj" fmla="val 8000"/>
            </a:avLst>
          </a:prstGeom>
          <a:solidFill>
            <a:srgbClr val="C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124712" y="2057400"/>
            <a:ext cx="457200" cy="457200"/>
          </a:xfrm>
          <a:prstGeom prst="ellipse">
            <a:avLst/>
          </a:prstGeom>
          <a:solidFill>
            <a:srgbClr val="1A8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72" y="2029968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138"/>
                </a:solidFill>
              </a:rPr>
              <a:t>Workforce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69748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1138"/>
                </a:solidFill>
              </a:rPr>
              <a:t>Open-ended discussion and brainstorming around your own case: personas, challenge, pain points, goals, a first solution, KPIs, action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828800"/>
            <a:ext cx="3291840" cy="2971800"/>
          </a:xfrm>
          <a:prstGeom prst="roundRect">
            <a:avLst>
              <a:gd name="adj" fmla="val 8000"/>
            </a:avLst>
          </a:prstGeom>
          <a:solidFill>
            <a:srgbClr val="D9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4645152" y="2057400"/>
            <a:ext cx="457200" cy="457200"/>
          </a:xfrm>
          <a:prstGeom prst="ellipse">
            <a:avLst/>
          </a:prstGeom>
          <a:solidFill>
            <a:srgbClr val="4F8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2029968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138"/>
                </a:solidFill>
              </a:rPr>
              <a:t>Assessment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69748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1138"/>
                </a:solidFill>
              </a:rPr>
              <a:t>Organise the ideas into actionable requirement checklists per worker group × learning pathway, then design a solution linked to those checklists.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1828800"/>
            <a:ext cx="3291840" cy="2971800"/>
          </a:xfrm>
          <a:prstGeom prst="roundRect">
            <a:avLst>
              <a:gd name="adj" fmla="val 8000"/>
            </a:avLst>
          </a:prstGeom>
          <a:solidFill>
            <a:srgbClr val="FCE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165592" y="2057400"/>
            <a:ext cx="457200" cy="457200"/>
          </a:xfrm>
          <a:prstGeom prst="ellipse">
            <a:avLst/>
          </a:prstGeom>
          <a:solidFill>
            <a:srgbClr val="A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029968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B1138"/>
                </a:solidFill>
              </a:rPr>
              <a:t>Use case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69748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1138"/>
                </a:solidFill>
              </a:rPr>
              <a:t>Match your institute's SkillAIbility use cases against the requirement lists and mark what is missing.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5029200"/>
            <a:ext cx="10332720" cy="11887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40"/>
            <a:ext cx="9966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1138"/>
                </a:solidFill>
              </a:rPr>
              <a:t>Interconnected: </a:t>
            </a:r>
            <a:r>
              <a:rPr sz="1200" b="0" i="0">
                <a:solidFill>
                  <a:srgbClr val="0B1138"/>
                </a:solidFill>
              </a:rPr>
              <a:t>the same five worker groups everywhere · the requirement code lists (TA / TE / OR) live in the matrix and appear in the solution canvas and the use case toolkit · the workforce canvas and the solution canvas mirror each other live · company and participants are entered once on the start 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you start: form the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526B"/>
                </a:solidFill>
              </a:rPr>
              <a:t>The grouping rule decides who shares a computer.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828800"/>
            <a:ext cx="5029200" cy="4389120"/>
          </a:xfrm>
          <a:prstGeom prst="roundRect">
            <a:avLst>
              <a:gd name="adj" fmla="val 8000"/>
            </a:avLst>
          </a:prstGeom>
          <a:solidFill>
            <a:srgbClr val="C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1138"/>
                </a:solidFill>
              </a:rPr>
              <a:t>Same use case → one group, one computer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834640"/>
            <a:ext cx="457200" cy="457200"/>
          </a:xfrm>
          <a:prstGeom prst="ellipse">
            <a:avLst/>
          </a:prstGeom>
          <a:solidFill>
            <a:srgbClr val="1A8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0" y="2834640"/>
            <a:ext cx="457200" cy="457200"/>
          </a:xfrm>
          <a:prstGeom prst="ellipse">
            <a:avLst/>
          </a:prstGeom>
          <a:solidFill>
            <a:srgbClr val="1A8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2468880" y="2834640"/>
            <a:ext cx="457200" cy="457200"/>
          </a:xfrm>
          <a:prstGeom prst="ellipse">
            <a:avLst/>
          </a:prstGeom>
          <a:solidFill>
            <a:srgbClr val="1A8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278892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0B1138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834640"/>
            <a:ext cx="822960" cy="502920"/>
          </a:xfrm>
          <a:prstGeom prst="roundRect">
            <a:avLst>
              <a:gd name="adj" fmla="val 8000"/>
            </a:avLst>
          </a:prstGeom>
          <a:solidFill>
            <a:srgbClr val="0B1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 PC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66160"/>
            <a:ext cx="45720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0B1138"/>
                </a:solidFill>
              </a:rPr>
              <a:t>Everyone working on the same use case sits together and fills in the tools together.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0B1138"/>
                </a:solidFill>
              </a:rPr>
              <a:t>One person types; the group discusses and agrees.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0B1138"/>
                </a:solidFill>
              </a:rPr>
              <a:t>The group's name is the Company / organisation entered on the start page – it identifies the submission.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0B1138"/>
                </a:solidFill>
              </a:rPr>
              <a:t>Keep the same device and browser for the whole session: the tools share their data on that device.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28800"/>
            <a:ext cx="5029200" cy="4389120"/>
          </a:xfrm>
          <a:prstGeom prst="roundRect">
            <a:avLst>
              <a:gd name="adj" fmla="val 8000"/>
            </a:avLst>
          </a:prstGeom>
          <a:solidFill>
            <a:srgbClr val="FCE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1138"/>
                </a:solidFill>
              </a:rPr>
              <a:t>Different use cases → own computer each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2834640"/>
            <a:ext cx="457200" cy="457200"/>
          </a:xfrm>
          <a:prstGeom prst="ellipse">
            <a:avLst/>
          </a:prstGeom>
          <a:solidFill>
            <a:srgbClr val="A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040880" y="283464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0B1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PC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2834640"/>
            <a:ext cx="457200" cy="457200"/>
          </a:xfrm>
          <a:prstGeom prst="ellipse">
            <a:avLst/>
          </a:prstGeom>
          <a:solidFill>
            <a:srgbClr val="A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283464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0B1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PC</a:t>
            </a:r>
          </a:p>
        </p:txBody>
      </p:sp>
      <p:sp>
        <p:nvSpPr>
          <p:cNvPr id="19" name="Oval 18"/>
          <p:cNvSpPr/>
          <p:nvPr/>
        </p:nvSpPr>
        <p:spPr>
          <a:xfrm>
            <a:off x="9235440" y="2834640"/>
            <a:ext cx="457200" cy="457200"/>
          </a:xfrm>
          <a:prstGeom prst="ellipse">
            <a:avLst/>
          </a:prstGeom>
          <a:solidFill>
            <a:srgbClr val="A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784080" y="2834640"/>
            <a:ext cx="640080" cy="502920"/>
          </a:xfrm>
          <a:prstGeom prst="roundRect">
            <a:avLst>
              <a:gd name="adj" fmla="val 8000"/>
            </a:avLst>
          </a:prstGeom>
          <a:solidFill>
            <a:srgbClr val="0B1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457200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0B1138"/>
                </a:solidFill>
              </a:rPr>
              <a:t>People working on different use cases fill in the tools individually – even if they are from the same institute.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0B1138"/>
                </a:solidFill>
              </a:rPr>
              <a:t>Each person uses their own computer and their own start-page entry.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0B1138"/>
                </a:solidFill>
              </a:rPr>
              <a:t>Each becomes a separate submission in the results.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50" b="0" i="0">
                <a:solidFill>
                  <a:srgbClr val="0B1138"/>
                </a:solidFill>
              </a:rPr>
              <a:t>Tip: name the entry after the use case (e.g. “MADE – U10 Visual guidance”) so results are easy to tell apart.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page and the two 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526B"/>
                </a:solidFill>
              </a:rPr>
              <a:t>Every step then opens with brief instructions and an estimated time before you enter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" y="1783080"/>
            <a:ext cx="5029200" cy="3177540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828800"/>
            <a:ext cx="493776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" y="502920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4A526B"/>
                </a:solidFill>
              </a:rPr>
              <a:t>Company / organisation, participants and date are entered once here and carried through all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2468880" cy="43891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938528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B1138"/>
                </a:solidFill>
              </a:rPr>
              <a:t>Industrial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4A526B"/>
                </a:solidFill>
              </a:rPr>
              <a:t>companies · 2 steps · 40–60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78892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400"/>
              </a:spcAft>
              <a:buChar char="•"/>
            </a:pPr>
            <a:r>
              <a:rPr sz="1300" b="0" i="0">
                <a:solidFill>
                  <a:srgbClr val="0B1138"/>
                </a:solidFill>
              </a:rPr>
              <a:t>Workforce canvas</a:t>
            </a:r>
          </a:p>
          <a:p>
            <a:pPr marL="201168" indent="-201168" algn="l">
              <a:spcAft>
                <a:spcPts val="400"/>
              </a:spcAft>
              <a:buChar char="•"/>
            </a:pPr>
            <a:r>
              <a:rPr sz="1300" b="0" i="0">
                <a:solidFill>
                  <a:srgbClr val="0B1138"/>
                </a:solidFill>
              </a:rPr>
              <a:t>Solution 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886200"/>
            <a:ext cx="21945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B1138"/>
                </a:solidFill>
              </a:rPr>
              <a:t>Generate discussion and an action plan. Conversation-first, no preparation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828800"/>
            <a:ext cx="2468880" cy="4389120"/>
          </a:xfrm>
          <a:prstGeom prst="roundRect">
            <a:avLst>
              <a:gd name="adj" fmla="val 8000"/>
            </a:avLst>
          </a:prstGeom>
          <a:solidFill>
            <a:srgbClr val="0B1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1938528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</a:rPr>
              <a:t>Academic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3774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ADCFC"/>
                </a:solidFill>
              </a:rPr>
              <a:t>scholars · 4 steps · 65–90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788920"/>
            <a:ext cx="21945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</a:rPr>
              <a:t>1. Use case matching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</a:rPr>
              <a:t>2. Workforce canvas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</a:rPr>
              <a:t>3. Assessment matrix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</a:rPr>
              <a:t>4. Solution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43484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CADCFC"/>
                </a:solidFill>
              </a:rPr>
              <a:t>From evidence to solution: map requirements and evaluate use cases systematically. The rest of this deck follows these four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four learning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526B"/>
                </a:solidFill>
              </a:rPr>
              <a:t>Every solution aims at one or more of these. They are the columns of the assessment matrix and the pathways of the use case mapping.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828800"/>
            <a:ext cx="2423160" cy="4389120"/>
          </a:xfrm>
          <a:prstGeom prst="roundRect">
            <a:avLst>
              <a:gd name="adj" fmla="val 8000"/>
            </a:avLst>
          </a:prstGeom>
          <a:solidFill>
            <a:srgbClr val="E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92CA"/>
                </a:solidFill>
              </a:rPr>
              <a:t>Augmentation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A526B"/>
                </a:solidFill>
              </a:rPr>
              <a:t>enhance what workers can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2057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Technology extends what a worker can do. It strengthens human capabilities – physical, cognitive or sensory – so the worker performs the task better, faster or more safely, while the human stays in charge of the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828800"/>
            <a:ext cx="2423160" cy="4389120"/>
          </a:xfrm>
          <a:prstGeom prst="roundRect">
            <a:avLst>
              <a:gd name="adj" fmla="val 8000"/>
            </a:avLst>
          </a:prstGeom>
          <a:solidFill>
            <a:srgbClr val="E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9659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92CA"/>
                </a:solidFill>
              </a:rPr>
              <a:t>Inclusion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7744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A526B"/>
                </a:solidFill>
              </a:rPr>
              <a:t>make the job accessible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788920"/>
            <a:ext cx="2057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Technology removes barriers so that workers who would otherwise be excluded – novice or learning-vulnerable, ageing, deaf and hard-of-hearing, or with physical or cognitive support needs – can perform the task and take part in work on equal terms.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828800"/>
            <a:ext cx="2423160" cy="4389120"/>
          </a:xfrm>
          <a:prstGeom prst="roundRect">
            <a:avLst>
              <a:gd name="adj" fmla="val 8000"/>
            </a:avLst>
          </a:prstGeom>
          <a:solidFill>
            <a:srgbClr val="E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59" y="19659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92CA"/>
                </a:solidFill>
              </a:rPr>
              <a:t>Symbiosis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37744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A526B"/>
                </a:solidFill>
              </a:rPr>
              <a:t>human and AI work as one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788920"/>
            <a:ext cx="2057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Human and technology work as one system. Tasks are shared and adapted dynamically, each side compensating for the other's limits, with continuous two-way communication, transparency and trust.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14232" y="1828800"/>
            <a:ext cx="2423160" cy="4389120"/>
          </a:xfrm>
          <a:prstGeom prst="roundRect">
            <a:avLst>
              <a:gd name="adj" fmla="val 8000"/>
            </a:avLst>
          </a:prstGeom>
          <a:solidFill>
            <a:srgbClr val="E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15400" y="19659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92CA"/>
                </a:solidFill>
              </a:rPr>
              <a:t>Empowerment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37744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A526B"/>
                </a:solidFill>
              </a:rPr>
              <a:t>workers grow and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788920"/>
            <a:ext cx="2057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Technology helps the worker to grow and to decide. It builds skills, autonomy and confidence, and gives workers a say in how the technology and the work around it are shaped.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· Use case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526B"/>
                </a:solidFill>
              </a:rPr>
              <a:t>Ground the workshop in the project's real SkillAIbility use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1280160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FCE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138"/>
                </a:solidFill>
              </a:rPr>
              <a:t>⏱ 10–15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182880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FCE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" y="2011680"/>
            <a:ext cx="411480" cy="411480"/>
          </a:xfrm>
          <a:prstGeom prst="ellipse">
            <a:avLst/>
          </a:prstGeom>
          <a:solidFill>
            <a:srgbClr val="A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9834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Choose your institute (CHALMERS, NTNU, LMS, MADE, TKNIKA) – you see only its use cases.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For each use case, tick the Task characteristics (TA) it impacts, and the Technology requirements (TE) and Organisational conditions (OR) needed to implement it.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Use ▼ Expand on any list to read the full text of every item.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Judge whether the lists are sufficient to implement the use case: yes / partly / no.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Note what is missing – these gaps feed the discussion in the next steps.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No Submit here: you submit once, at the last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799"/>
            <a:ext cx="4800600" cy="3035808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s_use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19"/>
            <a:ext cx="4709160" cy="2944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4983480"/>
            <a:ext cx="4709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A526B"/>
                </a:solidFill>
              </a:rPr>
              <a:t>Everything autosaves on this device. The guided bar at the top shows your step and leads to the next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· Workforce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526B"/>
                </a:solidFill>
              </a:rPr>
              <a:t>Brainstorm the human-centred case that frames the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1280160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C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138"/>
                </a:solidFill>
              </a:rPr>
              <a:t>⏱ 25–30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182880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C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" y="2011680"/>
            <a:ext cx="411480" cy="411480"/>
          </a:xfrm>
          <a:prstGeom prst="ellipse">
            <a:avLst/>
          </a:prstGeom>
          <a:solidFill>
            <a:srgbClr val="1A8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9834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Pick the worker groups (personas) your use case is for, and describe your specific persona.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Work through the boxes: Challenge → Pain points → Goals → an initial Solution (task / technology / organisation) → Unique value → Risks → KPIs → Skills → Action plan.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In the KPIs box, use 📊 Score success metrics to rate how you will measure success.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Keep it open and exploratory – the requirements are formalised in the next step.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Everything you write here is mirrored into the solution canvas of step 4, so you never type it twice.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799"/>
            <a:ext cx="4800600" cy="3035808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s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19"/>
            <a:ext cx="4709160" cy="2944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4983480"/>
            <a:ext cx="4709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A526B"/>
                </a:solidFill>
              </a:rPr>
              <a:t>Everything autosaves on this device. The guided bar at the top shows your step and leads to the next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· Assessment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526B"/>
                </a:solidFill>
              </a:rPr>
              <a:t>Formalise requirements per worker group × learning pathway – the analytical 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1280160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D9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138"/>
                </a:solidFill>
              </a:rPr>
              <a:t>⏱ 25–35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182880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D9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" y="2011680"/>
            <a:ext cx="411480" cy="411480"/>
          </a:xfrm>
          <a:prstGeom prst="ellipse">
            <a:avLst/>
          </a:prstGeom>
          <a:solidFill>
            <a:srgbClr val="4F8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9834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Three dimensions, each a grid of worker groups × learning pathways: Task characteristics (TA), Technology requirements (TE), Organisational conditions (OR).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Cells are pre-filled with the WP3 research baseline – confirm, remove or add.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Click a cell, then tick / untick codes in the legend on the right; add a note for the cell.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Rename codes, add new ones (+ New code) or mark frequent ones with ★.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▼ Expand codes shows full text inside the cells; ▼ Expand list shows the full legend.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The lists you build here flow into the solution canvas and back to the use case toolkit.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799"/>
            <a:ext cx="4800600" cy="3035808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s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19"/>
            <a:ext cx="4709160" cy="2944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4983480"/>
            <a:ext cx="4709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A526B"/>
                </a:solidFill>
              </a:rPr>
              <a:t>Everything autosaves on this device. The guided bar at the top shows your step and leads to the next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· Solution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526B"/>
                </a:solidFill>
              </a:rPr>
              <a:t>Design the solution, linked to the requirements you mapped.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1280160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D9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138"/>
                </a:solidFill>
              </a:rPr>
              <a:t>⏱ 5–10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182880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D9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" y="2011680"/>
            <a:ext cx="411480" cy="411480"/>
          </a:xfrm>
          <a:prstGeom prst="ellipse">
            <a:avLst/>
          </a:prstGeom>
          <a:solidFill>
            <a:srgbClr val="4F8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9834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Your texts from step 2 are already here – this canvas mirrors the workforce canvas.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Click the three solution layers – Task characteristics (TA), Technology requirements (TE), Organisational conditions (OR) – and select the codes your solution builds on.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Codes assigned to your personas in step 3 are ringed in yellow as suggestions; add free text for anything beyond the codes.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Then reflect on the free-text boxes – challenge, pain points, goals, UVP, risks, KPIs, skills, action plan: does the solution still answer them? Refine where needed.</a:t>
            </a:r>
          </a:p>
          <a:p>
            <a:pPr marL="201168" indent="-201168" algn="l">
              <a:spcAft>
                <a:spcPts val="600"/>
              </a:spcAft>
              <a:buChar char="•"/>
            </a:pPr>
            <a:r>
              <a:rPr sz="1200" b="0" i="0">
                <a:solidFill>
                  <a:srgbClr val="0B1138"/>
                </a:solidFill>
              </a:rPr>
              <a:t>When the group agrees: Submit all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799"/>
            <a:ext cx="4800600" cy="3035808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s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19"/>
            <a:ext cx="4709160" cy="2944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4983480"/>
            <a:ext cx="4709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4A526B"/>
                </a:solidFill>
              </a:rPr>
              <a:t>Everything autosaves on this device. The guided bar at the top shows your step and leads to the next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Submitting: once, at the last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526B"/>
                </a:solidFill>
              </a:rPr>
              <a:t>No Submit button on earlier steps – nothing can be sent by mistake.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828800"/>
            <a:ext cx="2423160" cy="28346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" y="2011680"/>
            <a:ext cx="411480" cy="411480"/>
          </a:xfrm>
          <a:prstGeom prst="ellipse">
            <a:avLst/>
          </a:prstGeom>
          <a:solidFill>
            <a:srgbClr val="0B1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138"/>
                </a:solidFill>
              </a:rPr>
              <a:t>Group finishes the last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20574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The Submit all steps button appears only on the last step of the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97180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4A526B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828800"/>
            <a:ext cx="2423160" cy="28346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03320" y="2011680"/>
            <a:ext cx="411480" cy="411480"/>
          </a:xfrm>
          <a:prstGeom prst="ellipse">
            <a:avLst/>
          </a:prstGeom>
          <a:solidFill>
            <a:srgbClr val="0B1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060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138"/>
                </a:solidFill>
              </a:rPr>
              <a:t>One click sends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46120"/>
            <a:ext cx="20574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All steps of the flow – use case matching, workforce canvas, matrix, solution canvas – are sent together, in a second or two.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297180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4A526B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828800"/>
            <a:ext cx="2423160" cy="28346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09359" y="2011680"/>
            <a:ext cx="411480" cy="411480"/>
          </a:xfrm>
          <a:prstGeom prst="ellipse">
            <a:avLst/>
          </a:prstGeom>
          <a:solidFill>
            <a:srgbClr val="0B1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6060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1138"/>
                </a:solidFill>
              </a:rPr>
              <a:t>Rows land in the Google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246120"/>
            <a:ext cx="20574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One tab per tool, analysis-ready (wide and long formats).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97180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4A526B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14232" y="1828800"/>
            <a:ext cx="2423160" cy="2834640"/>
          </a:xfrm>
          <a:prstGeom prst="roundRect">
            <a:avLst>
              <a:gd name="adj" fmla="val 8000"/>
            </a:avLst>
          </a:prstGeom>
          <a:solidFill>
            <a:srgbClr val="0B1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15400" y="2011680"/>
            <a:ext cx="411480" cy="411480"/>
          </a:xfrm>
          <a:prstGeom prst="ellipse">
            <a:avLst/>
          </a:prstGeom>
          <a:solidFill>
            <a:srgbClr val="09B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B1138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6060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</a:rPr>
              <a:t>One email to the research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246120"/>
            <a:ext cx="20574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CADCFC"/>
                </a:solidFill>
              </a:rPr>
              <a:t>About 1–2 minutes later: a summary of the submission plus the complete workbook as an Excel attachment.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" y="4892040"/>
            <a:ext cx="10332720" cy="1325880"/>
          </a:xfrm>
          <a:prstGeom prst="roundRect">
            <a:avLst>
              <a:gd name="adj" fmla="val 8000"/>
            </a:avLst>
          </a:prstGeom>
          <a:solidFill>
            <a:srgbClr val="C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983480"/>
            <a:ext cx="99669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1138"/>
                </a:solidFill>
              </a:rPr>
              <a:t>Good to know  </a:t>
            </a:r>
            <a:r>
              <a:rPr sz="1200" b="0" i="0">
                <a:solidFill>
                  <a:srgbClr val="0B1138"/>
                </a:solidFill>
              </a:rPr>
              <a:t>Groups can re-submit; every submission is stored separately. · Export gives a JSON backup any time (Ctrl/Cmd + S). · Print makes an A3 PDF of a canvas. · If a page looks outdated, hard-refresh (Cmd/Ctrl + Shift + R). · Company is required: it identifies the group.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agenda (Academic)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526B"/>
                </a:solidFill>
              </a:rPr>
              <a:t>About 95 minutes including introduction and wrap-up. Adjust to your slot.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828800"/>
            <a:ext cx="10332720" cy="621792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1138"/>
                </a:solidFill>
              </a:rPr>
              <a:t>0–10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82880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138"/>
                </a:solidFill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828800"/>
            <a:ext cx="58064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Purpose, the four learning pathways, grouping rule, start page: enter Company / participants / date, choose the version.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560320"/>
            <a:ext cx="10332720" cy="621792"/>
          </a:xfrm>
          <a:prstGeom prst="roundRect">
            <a:avLst>
              <a:gd name="adj" fmla="val 8000"/>
            </a:avLst>
          </a:prstGeom>
          <a:solidFill>
            <a:srgbClr val="FCE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1138"/>
                </a:solidFill>
              </a:rPr>
              <a:t>10–25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6032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138"/>
                </a:solidFill>
              </a:rPr>
              <a:t>Step 1 · Use case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60320"/>
            <a:ext cx="58064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Institute's use cases vs. TA / TE / OR lists; sufficiency and gaps.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291840"/>
            <a:ext cx="10332720" cy="621792"/>
          </a:xfrm>
          <a:prstGeom prst="roundRect">
            <a:avLst>
              <a:gd name="adj" fmla="val 8000"/>
            </a:avLst>
          </a:prstGeom>
          <a:solidFill>
            <a:srgbClr val="C9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1138"/>
                </a:solidFill>
              </a:rPr>
              <a:t>25–55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29184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138"/>
                </a:solidFill>
              </a:rPr>
              <a:t>Step 2 · Workforce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291840"/>
            <a:ext cx="58064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Personas, challenge → action plan; score success metrics.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023360"/>
            <a:ext cx="10332720" cy="621792"/>
          </a:xfrm>
          <a:prstGeom prst="roundRect">
            <a:avLst>
              <a:gd name="adj" fmla="val 8000"/>
            </a:avLst>
          </a:prstGeom>
          <a:solidFill>
            <a:srgbClr val="D9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1138"/>
                </a:solidFill>
              </a:rPr>
              <a:t>55–85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402336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138"/>
                </a:solidFill>
              </a:rPr>
              <a:t>Step 3 · Assessment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023360"/>
            <a:ext cx="58064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Worker groups × pathways for TA, TE, OR; refine the code lists.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4754880"/>
            <a:ext cx="10332720" cy="621792"/>
          </a:xfrm>
          <a:prstGeom prst="roundRect">
            <a:avLst>
              <a:gd name="adj" fmla="val 8000"/>
            </a:avLst>
          </a:prstGeom>
          <a:solidFill>
            <a:srgbClr val="D9F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1138"/>
                </a:solidFill>
              </a:rPr>
              <a:t>85–95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75488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138"/>
                </a:solidFill>
              </a:rPr>
              <a:t>Step 4 · Solution canvas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754880"/>
            <a:ext cx="58064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Select the codes in the three layers, reflect on the texts, Submit all steps.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" y="5486400"/>
            <a:ext cx="10332720" cy="621792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5486400"/>
            <a:ext cx="1371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B1138"/>
                </a:solidFill>
              </a:rPr>
              <a:t>95+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5486400"/>
            <a:ext cx="2651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138"/>
                </a:solidFill>
              </a:rPr>
              <a:t>Wrap-up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5486400"/>
            <a:ext cx="58064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0B1138"/>
                </a:solidFill>
              </a:rPr>
              <a:t>Each group presents its solution in two minutes; facilitators have the Excel results in their inbox.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Ready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984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4A526B"/>
                </a:solidFill>
              </a:rPr>
              <a:t>Open the start page on the group's computer and choose a 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828800"/>
            <a:ext cx="6949440" cy="43891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92CA"/>
                </a:solidFill>
              </a:rPr>
              <a:t>Start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5740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1138"/>
                </a:solidFill>
              </a:rPr>
              <a:t>diamondcao1996.github.io/SkillAIbility-WP3/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92CA"/>
                </a:solidFill>
              </a:rPr>
              <a:t>Workforce canvas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83464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1138"/>
                </a:solidFill>
              </a:rPr>
              <a:t>…/SkillAIbility-WP3/canvas.html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118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92CA"/>
                </a:solidFill>
              </a:rPr>
              <a:t>Assessment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1188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1138"/>
                </a:solidFill>
              </a:rPr>
              <a:t>…/SkillAIbility-WP3/inclusion.html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891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92CA"/>
                </a:solidFill>
              </a:rPr>
              <a:t>Use case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38912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1138"/>
                </a:solidFill>
              </a:rPr>
              <a:t>…/SkillAIbility-WP3/usecases.html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1663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92CA"/>
                </a:solidFill>
              </a:rPr>
              <a:t>Repository &amp; facilitator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166360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1138"/>
                </a:solidFill>
              </a:rPr>
              <a:t>github.com/DiamondCao1996/SkillAIbility-WP3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28800"/>
            <a:ext cx="30632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Picture 16" descr="qr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103120"/>
            <a:ext cx="2423160" cy="24231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83879" y="466344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B1138"/>
                </a:solidFill>
              </a:rPr>
              <a:t>Scan for the start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120640"/>
            <a:ext cx="3063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4A526B"/>
                </a:solidFill>
              </a:rPr>
              <a:t>Facilitators: setup and data collection are documented in the README.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611276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ustom 5">
      <a:dk1>
        <a:srgbClr val="0B1138"/>
      </a:dk1>
      <a:lt1>
        <a:srgbClr val="F5F5F5"/>
      </a:lt1>
      <a:dk2>
        <a:srgbClr val="282C96"/>
      </a:dk2>
      <a:lt2>
        <a:srgbClr val="FFFFFF"/>
      </a:lt2>
      <a:accent1>
        <a:srgbClr val="09BDF0"/>
      </a:accent1>
      <a:accent2>
        <a:srgbClr val="E9FF70"/>
      </a:accent2>
      <a:accent3>
        <a:srgbClr val="E8C73D"/>
      </a:accent3>
      <a:accent4>
        <a:srgbClr val="0092CA"/>
      </a:accent4>
      <a:accent5>
        <a:srgbClr val="CFD1D1"/>
      </a:accent5>
      <a:accent6>
        <a:srgbClr val="FEFFFF"/>
      </a:accent6>
      <a:hlink>
        <a:srgbClr val="E7C83C"/>
      </a:hlink>
      <a:folHlink>
        <a:srgbClr val="E7C83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3A888E98-D8B2-534F-AD7A-C574855A23FA}" vid="{18DC21F4-4B07-ED43-9C04-BA0705402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AF0BF08-C674-44E3-8BFC-85BC65E09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CCB28C-7D26-4A36-9CFC-D739C28F3D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757C30-AE9A-4680-90EB-19D282EC2B7C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1499</TotalTime>
  <Words>1734</Words>
  <Application>Microsoft Macintosh PowerPoint</Application>
  <PresentationFormat>Widescreen</PresentationFormat>
  <Paragraphs>159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Avenir Next LT Pro</vt:lpstr>
      <vt:lpstr>Calibri</vt:lpstr>
      <vt:lpstr>Source Code Pro</vt:lpstr>
      <vt:lpstr>ColorBlockVTI</vt:lpstr>
      <vt:lpstr>WP3 Workshop procedure</vt:lpstr>
      <vt:lpstr>Three interconnected tools</vt:lpstr>
      <vt:lpstr>Before you start: form the groups</vt:lpstr>
      <vt:lpstr>Start page and the two versions</vt:lpstr>
      <vt:lpstr>The four learning pathways</vt:lpstr>
      <vt:lpstr>Step 1 · Use case matching</vt:lpstr>
      <vt:lpstr>Step 2 · Workforce canvas</vt:lpstr>
      <vt:lpstr>Step 3 · Assessment matrix</vt:lpstr>
      <vt:lpstr>Step 4 · Solution canvas</vt:lpstr>
      <vt:lpstr>Submitting: once, at the last step</vt:lpstr>
      <vt:lpstr>Suggested agenda (Professional)</vt:lpstr>
      <vt:lpstr>Ready to start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Paula Ando</dc:creator>
  <cp:lastModifiedBy>Huizhong Cao</cp:lastModifiedBy>
  <cp:revision>14</cp:revision>
  <dcterms:created xsi:type="dcterms:W3CDTF">2024-11-26T14:33:50Z</dcterms:created>
  <dcterms:modified xsi:type="dcterms:W3CDTF">2026-09-17T13:50:57Z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