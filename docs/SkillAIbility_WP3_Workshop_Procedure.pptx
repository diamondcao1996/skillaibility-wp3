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procedure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 the interactive workshop toolkit: grouping, the guided steps, and how results are collected.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Human-centred technology adoption for a diverse workforce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08976" y="1316736"/>
            <a:ext cx="3950208" cy="2514600"/>
          </a:xfrm>
          <a:prstGeom prst="roundRect">
            <a:avLst>
              <a:gd name="adj" fmla="val 3636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371600"/>
            <a:ext cx="3840480" cy="24048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0" y="3931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diamondcao1996.github.io/SkillAIbility-WP3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toolkit, three interconnected tools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in the browser – no login, no install. One device per group; the tools share their data on that device.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discussion and brainstorming around your own case: personas, challenge, pain points, goals, a first solution, KPIs, action plan.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the ideas into actionable requirement checklists per worker group × learning pathway, then design a solution linked to those checklists.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520440" cy="3200400"/>
          </a:xfrm>
          <a:prstGeom prst="roundRect">
            <a:avLst>
              <a:gd name="adj" fmla="val 4286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0116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011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your institute's SkillAIbility use cases against the requirement lists and mark what is missing.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1304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Interconnected: </a:t>
            </a:r>
            <a:pPr indent="0" marL="0">
              <a:buNone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worker groups everywhere · the requirement code lists (TA / TE / OR) live in the matrix and appear in the solution canvas and the use case toolkit · the workforce canvas and the solution canvas mirror each other live · company and participants are entered once on the start page.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start: form the groups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grouping rule decides who shares a computer.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 case → one group, one computer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269748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7520" y="2651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566160" y="2697480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26974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working on the same use case sits together and fills in the tools together.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types; the group discusses and agrees.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name is the Company / organisation entered on the start page – it identifies the submission.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same device and browser for the whole session: the tools share their data on that device.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1737360"/>
            <a:ext cx="5349240" cy="4480560"/>
          </a:xfrm>
          <a:prstGeom prst="roundRect">
            <a:avLst>
              <a:gd name="adj" fmla="val 3061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1920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use cases → own computer each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62940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4108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4108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69748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0" y="2697480"/>
            <a:ext cx="685800" cy="548640"/>
          </a:xfrm>
          <a:prstGeom prst="roundRect">
            <a:avLst>
              <a:gd name="adj" fmla="val 13333"/>
            </a:avLst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0" y="269748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34290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different use cases fill in the tools individually – even if they are from the same institute.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uses their own computer and their own start-page entry.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becomes a separate submission in the results.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name the entry after the use case (e.g. “MADE – U10 Visual guidance”) so results are easy to tell apart.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page: enter the group once, choose a version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then opens with brief instructions and an estimated time before you enter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93776" y="1682496"/>
            <a:ext cx="5230368" cy="3310128"/>
          </a:xfrm>
          <a:prstGeom prst="roundRect">
            <a:avLst>
              <a:gd name="adj" fmla="val 2762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12064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/ organisation, participants and date are entered once here and carried through all tools.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035040" y="1737360"/>
            <a:ext cx="2743200" cy="4480560"/>
          </a:xfrm>
          <a:prstGeom prst="roundRect">
            <a:avLst>
              <a:gd name="adj" fmla="val 5000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version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companies · 2 steps · 40–60 min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7889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402336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discussion and an action plan. Conversation-first, no preparation needed.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15400" y="1737360"/>
            <a:ext cx="2697480" cy="4480560"/>
          </a:xfrm>
          <a:prstGeom prst="roundRect">
            <a:avLst>
              <a:gd name="adj" fmla="val 5085"/>
            </a:avLst>
          </a:prstGeom>
          <a:solidFill>
            <a:srgbClr val="0B1B3F"/>
          </a:solidFill>
          <a:ln w="19050">
            <a:solidFill>
              <a:srgbClr val="0B1B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98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version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9828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scholars · 4 steps · 65–90 min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9098280" y="27889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098280" y="434340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evidence to solution: map requirements and evaluate use cases systematically. The rest of this deck follows these four steps.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learning pathways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solution aims at one or more of these. They are the columns of the assessment matrix and the pathways of the use case mapping.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what workers can 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extends what a worker can do. It strengthens human capabilities – physical, cognitive or sensory – so the worker performs the task better, faster or more safely, while the human stays in charge of the task.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job accessible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removes barriers so that workers who would otherwise be excluded – novice or learning-vulnerable, ageing, deaf and hard-of-hearing, or with physical or cognitive support needs – can perform the task and take part in work on equal terms.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Symbiosis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and AI work as one system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and technology work as one system. Tasks are shared and adapted dynamically, each side compensating for the other's limits, with continuous two-way communication, transparency and trust.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15400" y="1737360"/>
            <a:ext cx="2651760" cy="4480560"/>
          </a:xfrm>
          <a:prstGeom prst="roundRect">
            <a:avLst>
              <a:gd name="adj" fmla="val 5172"/>
            </a:avLst>
          </a:prstGeom>
          <a:solidFill>
            <a:srgbClr val="E9E4FB"/>
          </a:solidFill>
          <a:ln w="19050">
            <a:solidFill>
              <a:srgbClr val="E9E4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Empowerment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grow and decide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834640"/>
            <a:ext cx="2194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helps the worker to grow and to decide. It builds skills, autonomy and confidence, and gives workers a say in how the technology and the work around it are shaped.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A8860B"/>
          </a:solidFill>
          <a:ln w="12700">
            <a:solidFill>
              <a:srgbClr val="A886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FCE9A9"/>
          </a:solidFill>
          <a:ln w="12700">
            <a:solidFill>
              <a:srgbClr val="FCE9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10–15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workshop in the project's real SkillAIbility use cases.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institute (CHALMERS, NTNU, LMS, MADE, TKNIKA) – you see only its use cases.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use case, tick the Task characteristics (TA) it impacts, and the Technology requirements (TE) and Organisational conditions (OR) needed to implement it.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▼ Expand on any list to read the full text of every item.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whether the lists are sufficient to implement the use case: yes / partly / no.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what is missing – these gaps feed the discussion in the next steps.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Submit here: you submit once, at the last step.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A8FB8"/>
          </a:solidFill>
          <a:ln w="12700">
            <a:solidFill>
              <a:srgbClr val="1A8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C9EEFB"/>
          </a:solidFill>
          <a:ln w="12700">
            <a:solidFill>
              <a:srgbClr val="C9E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25–30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the human-centred case that frames the requirements.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worker groups (personas) your use case is for, and describe your specific persona.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boxes: Challenge → Pain points → Goals → an initial Solution (task / technology / organisation) → Unique value → Risks → KPIs → Skills → Action plan.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KPIs box, use 📊 Score success metrics to rate how you will measure success.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open and exploratory – the requirements are formalised in the next step.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write here is mirrored into the solution canvas of step 4, so you never type it twice.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D9F2C9"/>
          </a:solidFill>
          <a:ln w="12700">
            <a:solidFill>
              <a:srgbClr val="D9F2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25–35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Formalise requirements per worker group × learning pathway – the analytical core.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dimensions, each a grid of worker groups × learning pathways: Task characteristics (TA), Technology requirements (TE), Organisational conditions (OR).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are pre-filled with the WP3 research baseline – confirm, remove or add.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cell, then tick / untick codes in the legend on the right; add a note for the cell.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codes, add new ones (+ New code) or mark frequent ones with ★.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Expand codes shows full text inside the cells; ▼ Expand list shows the full legend.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lists you build here flow into the solution canvas and back to the use case toolkit.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4F8F1C"/>
          </a:solidFill>
          <a:ln w="12700">
            <a:solidFill>
              <a:srgbClr val="4F8F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65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canvas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92640" y="457200"/>
            <a:ext cx="1920240" cy="502920"/>
          </a:xfrm>
          <a:prstGeom prst="roundRect">
            <a:avLst>
              <a:gd name="adj" fmla="val 54545"/>
            </a:avLst>
          </a:prstGeom>
          <a:solidFill>
            <a:srgbClr val="D9F2C9"/>
          </a:solidFill>
          <a:ln w="12700">
            <a:solidFill>
              <a:srgbClr val="D9F2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457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5–10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solution, linked to the requirements you mapped.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760720" cy="4526280"/>
          </a:xfrm>
          <a:prstGeom prst="roundRect">
            <a:avLst>
              <a:gd name="adj" fmla="val 3030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texts from step 2 are already here – this canvas mirrors the workforce canvas.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three solution layers – Task characteristics (TA), Technology requirements (TE), Organisational conditions (OR) – and select the codes your solution builds on.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assigned to your personas in step 3 are ringed in yellow as suggestions; add free text for anything beyond the codes.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reflect on the free-text boxes – challenge, pain points, goals, UVP, risks, KPIs, skills, action plan: does the solution still answer them? Refine where needed.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group agrees: Submit all steps.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28816" y="1728216"/>
            <a:ext cx="5138928" cy="3255264"/>
          </a:xfrm>
          <a:prstGeom prst="roundRect">
            <a:avLst>
              <a:gd name="adj" fmla="val 2809"/>
            </a:avLst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5029200" cy="31455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58368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autosaves on this device. The guided bar at the top shows your step and leads to the next one.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Submitting: once, at the last step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Submit button on earlier steps – nothing can be sent by mistake.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finishes the last step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 all steps button appears only on the last step of the flow.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sends everything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steps of the flow – use case matching, workforce canvas, matrix, solution canvas – are sent together, in a second or two.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1965960"/>
            <a:ext cx="502920" cy="502920"/>
          </a:xfrm>
          <a:prstGeom prst="ellipse">
            <a:avLst/>
          </a:prstGeom>
          <a:solidFill>
            <a:srgbClr val="0B1B3F"/>
          </a:solidFill>
          <a:ln w="12700">
            <a:solidFill>
              <a:srgbClr val="0B1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land in the Google Sheet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tab per tool, analysis-ready (wide and long formats).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915400" y="173736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0B1B3F"/>
          </a:solidFill>
          <a:ln w="19050">
            <a:solidFill>
              <a:srgbClr val="0B1B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0" y="1965960"/>
            <a:ext cx="502920" cy="502920"/>
          </a:xfrm>
          <a:prstGeom prst="ellipse">
            <a:avLst/>
          </a:prstGeom>
          <a:solidFill>
            <a:srgbClr val="41C3EC"/>
          </a:solidFill>
          <a:ln w="12700">
            <a:solidFill>
              <a:srgbClr val="41C3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2606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email to the research team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29184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1–2 minutes later: a summary of the submission plus the complete workbook as an Excel attachment.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10345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  </a:t>
            </a:r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can re-submit; every submission is stored separately. · Export gives a JSON backup any time (Ctrl/Cmd + S). · Print makes an A3 PDF of a canvas. · If a page looks outdated, hard-refresh (Cmd/Ctrl + Shift + R). · Company is required: it identifies the group.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agenda – Professional version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95 minutes including introduction and wrap-up. Adjust to your slot.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 min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16916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69164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the four learning pathways, grouping rule, start page: enter Company / participants / date, choose the version.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FCE9A9"/>
          </a:solidFill>
          <a:ln w="19050">
            <a:solidFill>
              <a:srgbClr val="FCE9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505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10–25 min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45059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Use case matching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2450592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Institute's use cases vs. TA / TE / OR lists; sufficiency and gaps.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09544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C9EEFB"/>
          </a:solidFill>
          <a:ln w="19050">
            <a:solidFill>
              <a:srgbClr val="C9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0954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25–55 min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0954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Workforce canvas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209544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challenge → action plan; score success metrics.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68496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6849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55–85 min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396849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Assessment matrix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3968496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groups × pathways for TA, TE, OR; refine the code lists.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D9F2C9"/>
          </a:solidFill>
          <a:ln w="19050">
            <a:solidFill>
              <a:srgbClr val="D9F2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2744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85–95 min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240280" y="4727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Solution canvas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4727448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codes in the three layers, reflect on the texts, Submit all steps.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658368"/>
          </a:xfrm>
          <a:prstGeom prst="roundRect">
            <a:avLst>
              <a:gd name="adj" fmla="val 20833"/>
            </a:avLst>
          </a:prstGeom>
          <a:solidFill>
            <a:srgbClr val="EEF0F3"/>
          </a:solidFill>
          <a:ln w="19050">
            <a:solidFill>
              <a:srgbClr val="EEF0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4864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95+ min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54864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548640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presents its solution in two minutes; facilitators have the Excel results in their inbox.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SkillAIbility WP3 · Interactive Workshop Toolkit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start page on the group's computer and choose a version.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diamondcao1996.github.io/SkillAIbility-WP3/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35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canvas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30358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…/SkillAIbility-WP3/canvas.html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941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matrix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6941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…/SkillAIbility-WP3/inclusion.html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35254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matching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352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…/SkillAIbility-WP3/usecases.html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109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&amp; facilitator guide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5010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github.com/DiamondCao1996/SkillAIbility-WP3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503920" y="2011680"/>
            <a:ext cx="301752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2194560"/>
            <a:ext cx="2560320" cy="2560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503920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start page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Facilitators: setup and data collection are documented in the README.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SkillAIbility WP3 – Workshop procedure</dc:title>
  <dc:subject>PptxGenJS Presentation</dc:subject>
  <dc:creator>SkillAIbility WP3</dc:creator>
  <cp:lastModifiedBy>SkillAIbility WP3</cp:lastModifiedBy>
  <cp:revision>1</cp:revision>
  <dcterms:created xsi:type="dcterms:W3CDTF">2026-09-17T13:23:14Z</dcterms:created>
  <dcterms:modified xsi:type="dcterms:W3CDTF">2026-09-17T13:23:14Z</dcterms:modified>
</cp:coreProperties>
</file>